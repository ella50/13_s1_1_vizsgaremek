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76" r:id="rId2"/>
    <p:sldId id="279" r:id="rId3"/>
    <p:sldId id="259" r:id="rId4"/>
    <p:sldId id="260" r:id="rId5"/>
    <p:sldId id="274" r:id="rId6"/>
    <p:sldId id="285" r:id="rId7"/>
    <p:sldId id="268" r:id="rId8"/>
    <p:sldId id="266" r:id="rId9"/>
    <p:sldId id="269" r:id="rId10"/>
    <p:sldId id="272" r:id="rId11"/>
    <p:sldId id="282" r:id="rId12"/>
    <p:sldId id="283" r:id="rId13"/>
    <p:sldId id="287" r:id="rId14"/>
    <p:sldId id="28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8312"/>
    <a:srgbClr val="BD582C"/>
    <a:srgbClr val="FDF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6" autoAdjust="0"/>
  </p:normalViewPr>
  <p:slideViewPr>
    <p:cSldViewPr snapToGrid="0">
      <p:cViewPr varScale="1">
        <p:scale>
          <a:sx n="101" d="100"/>
          <a:sy n="101" d="100"/>
        </p:scale>
        <p:origin x="1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B98DA-128E-4364-BF98-E5A8E296E4F2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3375F-E6FE-4F6E-96C6-6B6BE7EEDE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520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Githubon</a:t>
            </a:r>
            <a:endParaRPr lang="hu-HU" dirty="0"/>
          </a:p>
          <a:p>
            <a:r>
              <a:rPr lang="hu-HU" dirty="0"/>
              <a:t>Feladatok megosztása – vegyesen frontend, backend. Közös adatbázis tervezés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3375F-E6FE-4F6E-96C6-6B6BE7EEDE08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1808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3375F-E6FE-4F6E-96C6-6B6BE7EEDE08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9964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1200" dirty="0"/>
              <a:t>Dinamikus igazodás a kijelzőhöz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1200" dirty="0"/>
              <a:t>Optimalizált telefon képernyőhöz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3375F-E6FE-4F6E-96C6-6B6BE7EEDE08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570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39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3314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45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0963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559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222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949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88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215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64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789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9C1AE7B-DA1F-453C-8148-553EEBF678EC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5C41921-6C50-46E3-8904-5D32421A85EB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58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Bahnschrift SemiBold" panose="020B0502040204020203" pitchFamily="34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Bahnschrift Light" panose="020B0502040204020203" pitchFamily="34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Bahnschrift Light" panose="020B0502040204020203" pitchFamily="34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Bahnschrift Light" panose="020B0502040204020203" pitchFamily="34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Bahnschrift Light" panose="020B0502040204020203" pitchFamily="34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Bahnschrift Light" panose="020B0502040204020203" pitchFamily="34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8830B2-00D6-4BD2-BE11-19215C420251}"/>
              </a:ext>
            </a:extLst>
          </p:cNvPr>
          <p:cNvSpPr txBox="1">
            <a:spLocks/>
          </p:cNvSpPr>
          <p:nvPr/>
        </p:nvSpPr>
        <p:spPr>
          <a:xfrm>
            <a:off x="1320753" y="2904573"/>
            <a:ext cx="9760046" cy="20069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5400" b="1" dirty="0">
                <a:latin typeface="Bahnschrift SemiBold" panose="020B0502040204020203" pitchFamily="34" charset="0"/>
              </a:rPr>
              <a:t>Iskolai étkezéskezelő rendszer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2286F2D-71DE-4954-8C64-8E9991C98150}"/>
              </a:ext>
            </a:extLst>
          </p:cNvPr>
          <p:cNvSpPr txBox="1">
            <a:spLocks/>
          </p:cNvSpPr>
          <p:nvPr/>
        </p:nvSpPr>
        <p:spPr>
          <a:xfrm>
            <a:off x="3598026" y="3785841"/>
            <a:ext cx="4995949" cy="5715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i="1" cap="all" spc="100" dirty="0">
                <a:solidFill>
                  <a:srgbClr val="BD582C"/>
                </a:solidFill>
                <a:uFill>
                  <a:solidFill>
                    <a:srgbClr val="BD582C"/>
                  </a:solidFill>
                </a:uFill>
                <a:latin typeface="+mj-lt"/>
              </a:rPr>
              <a:t>Vizsgaremek bemutatása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912835F-A62C-4B0D-B733-74106EBFDA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55"/>
          <a:stretch/>
        </p:blipFill>
        <p:spPr>
          <a:xfrm>
            <a:off x="3750655" y="1673209"/>
            <a:ext cx="4714591" cy="644014"/>
          </a:xfrm>
          <a:prstGeom prst="rect">
            <a:avLst/>
          </a:prstGeom>
        </p:spPr>
      </p:pic>
      <p:sp>
        <p:nvSpPr>
          <p:cNvPr id="5" name="Alcím 2">
            <a:extLst>
              <a:ext uri="{FF2B5EF4-FFF2-40B4-BE49-F238E27FC236}">
                <a16:creationId xmlns:a16="http://schemas.microsoft.com/office/drawing/2014/main" id="{3E0FCC81-0923-43B1-9ACC-080EBD94427F}"/>
              </a:ext>
            </a:extLst>
          </p:cNvPr>
          <p:cNvSpPr txBox="1">
            <a:spLocks/>
          </p:cNvSpPr>
          <p:nvPr/>
        </p:nvSpPr>
        <p:spPr>
          <a:xfrm>
            <a:off x="127233" y="5659169"/>
            <a:ext cx="5968766" cy="10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hu-HU" sz="1800" cap="none" spc="0" dirty="0">
                <a:latin typeface="Bahnschrift Light" panose="020B0502040204020203" pitchFamily="34" charset="0"/>
              </a:rPr>
              <a:t>Készítették: Atkári Ariella</a:t>
            </a:r>
            <a:br>
              <a:rPr lang="hu-HU" sz="1800" cap="none" spc="0" dirty="0">
                <a:latin typeface="Bahnschrift Light" panose="020B0502040204020203" pitchFamily="34" charset="0"/>
              </a:rPr>
            </a:br>
            <a:r>
              <a:rPr lang="hu-HU" sz="1800" cap="none" spc="0" dirty="0">
                <a:latin typeface="Bahnschrift Light" panose="020B0502040204020203" pitchFamily="34" charset="0"/>
              </a:rPr>
              <a:t>	      Farkas Dominik</a:t>
            </a:r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670AB60B-B385-4E46-A012-AD0038CF5F38}"/>
              </a:ext>
            </a:extLst>
          </p:cNvPr>
          <p:cNvCxnSpPr>
            <a:cxnSpLocks/>
          </p:cNvCxnSpPr>
          <p:nvPr/>
        </p:nvCxnSpPr>
        <p:spPr>
          <a:xfrm>
            <a:off x="2131264" y="2305176"/>
            <a:ext cx="79533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>
            <a:extLst>
              <a:ext uri="{FF2B5EF4-FFF2-40B4-BE49-F238E27FC236}">
                <a16:creationId xmlns:a16="http://schemas.microsoft.com/office/drawing/2014/main" id="{CB9406C6-CF11-47E5-AEFA-0BA584F8F8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984" b="38896"/>
          <a:stretch/>
        </p:blipFill>
        <p:spPr>
          <a:xfrm>
            <a:off x="3738706" y="711670"/>
            <a:ext cx="4855269" cy="949493"/>
          </a:xfrm>
          <a:prstGeom prst="rect">
            <a:avLst/>
          </a:prstGeom>
        </p:spPr>
      </p:pic>
      <p:sp>
        <p:nvSpPr>
          <p:cNvPr id="11" name="Alcím 2">
            <a:extLst>
              <a:ext uri="{FF2B5EF4-FFF2-40B4-BE49-F238E27FC236}">
                <a16:creationId xmlns:a16="http://schemas.microsoft.com/office/drawing/2014/main" id="{7D26B0E8-7A60-4B80-8AF7-628A519872D6}"/>
              </a:ext>
            </a:extLst>
          </p:cNvPr>
          <p:cNvSpPr txBox="1">
            <a:spLocks/>
          </p:cNvSpPr>
          <p:nvPr/>
        </p:nvSpPr>
        <p:spPr>
          <a:xfrm>
            <a:off x="10563224" y="5883809"/>
            <a:ext cx="1628776" cy="402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hu-HU" sz="1800" cap="none" spc="0" dirty="0">
                <a:latin typeface="Bahnschrift Light" panose="020B0502040204020203" pitchFamily="34" charset="0"/>
              </a:rPr>
              <a:t>2026. 03. 03</a:t>
            </a:r>
          </a:p>
        </p:txBody>
      </p:sp>
    </p:spTree>
    <p:extLst>
      <p:ext uri="{BB962C8B-B14F-4D97-AF65-F5344CB8AC3E}">
        <p14:creationId xmlns:p14="http://schemas.microsoft.com/office/powerpoint/2010/main" val="313312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8830B2-00D6-4BD2-BE11-19215C420251}"/>
              </a:ext>
            </a:extLst>
          </p:cNvPr>
          <p:cNvSpPr txBox="1">
            <a:spLocks/>
          </p:cNvSpPr>
          <p:nvPr/>
        </p:nvSpPr>
        <p:spPr>
          <a:xfrm>
            <a:off x="1098000" y="288000"/>
            <a:ext cx="9760046" cy="200699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b="1" dirty="0">
                <a:latin typeface="Bahnschrift SemiBold" panose="020B0502040204020203" pitchFamily="34" charset="0"/>
              </a:rPr>
              <a:t>A projekt bemutatása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912835F-A62C-4B0D-B733-74106EBFDA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55" r="67375"/>
          <a:stretch/>
        </p:blipFill>
        <p:spPr>
          <a:xfrm>
            <a:off x="10619475" y="1036308"/>
            <a:ext cx="1364958" cy="571501"/>
          </a:xfrm>
          <a:prstGeom prst="rect">
            <a:avLst/>
          </a:prstGeom>
        </p:spPr>
      </p:pic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670AB60B-B385-4E46-A012-AD0038CF5F38}"/>
              </a:ext>
            </a:extLst>
          </p:cNvPr>
          <p:cNvCxnSpPr>
            <a:cxnSpLocks/>
          </p:cNvCxnSpPr>
          <p:nvPr/>
        </p:nvCxnSpPr>
        <p:spPr>
          <a:xfrm>
            <a:off x="1209600" y="1738800"/>
            <a:ext cx="99822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>
            <a:extLst>
              <a:ext uri="{FF2B5EF4-FFF2-40B4-BE49-F238E27FC236}">
                <a16:creationId xmlns:a16="http://schemas.microsoft.com/office/drawing/2014/main" id="{CB9406C6-CF11-47E5-AEFA-0BA584F8F8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1666" b="38896"/>
          <a:stretch/>
        </p:blipFill>
        <p:spPr>
          <a:xfrm>
            <a:off x="10565538" y="349786"/>
            <a:ext cx="1418895" cy="745451"/>
          </a:xfrm>
          <a:prstGeom prst="rect">
            <a:avLst/>
          </a:prstGeom>
        </p:spPr>
      </p:pic>
      <p:sp>
        <p:nvSpPr>
          <p:cNvPr id="6" name="Tartalom helye 2">
            <a:extLst>
              <a:ext uri="{FF2B5EF4-FFF2-40B4-BE49-F238E27FC236}">
                <a16:creationId xmlns:a16="http://schemas.microsoft.com/office/drawing/2014/main" id="{FF047810-2018-4C33-B261-D1F6226BE9D7}"/>
              </a:ext>
            </a:extLst>
          </p:cNvPr>
          <p:cNvSpPr txBox="1">
            <a:spLocks/>
          </p:cNvSpPr>
          <p:nvPr/>
        </p:nvSpPr>
        <p:spPr>
          <a:xfrm>
            <a:off x="1097280" y="1874067"/>
            <a:ext cx="10058400" cy="4330005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hu-HU" sz="2400" dirty="0">
                <a:solidFill>
                  <a:srgbClr val="BD582C"/>
                </a:solidFill>
                <a:latin typeface="Bahnschrift Light" panose="020B0502040204020203" pitchFamily="34" charset="0"/>
              </a:rPr>
              <a:t>Probléma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 Papíron történő étkezés rendelés, számlázás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 Lemondási nehézségek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 Nincs ételopció választási lehetőség</a:t>
            </a:r>
          </a:p>
          <a:p>
            <a:endParaRPr lang="hu-HU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hu-HU" sz="2400" dirty="0">
                <a:solidFill>
                  <a:srgbClr val="BD582C"/>
                </a:solidFill>
                <a:latin typeface="Bahnschrift Light" panose="020B0502040204020203" pitchFamily="34" charset="0"/>
              </a:rPr>
              <a:t>Megoldás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dirty="0">
                <a:latin typeface="Bahnschrift Light" panose="020B0502040204020203" pitchFamily="34" charset="0"/>
              </a:rPr>
              <a:t> </a:t>
            </a:r>
            <a:r>
              <a:rPr lang="hu-HU" sz="2000" dirty="0">
                <a:latin typeface="Bahnschrift Light" panose="020B0502040204020203" pitchFamily="34" charset="0"/>
              </a:rPr>
              <a:t>Online felület a rendeléshez, lemondáshoz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 Előre kiválasztott opció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 Digitális számla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070409B-88A6-42DC-B01A-8F8F5314A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575" y="2498937"/>
            <a:ext cx="3983647" cy="316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93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758DB2-9D10-47A2-925C-F8A85855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330" y="1979084"/>
            <a:ext cx="10058400" cy="4023360"/>
          </a:xfrm>
        </p:spPr>
        <p:txBody>
          <a:bodyPr>
            <a:normAutofit/>
          </a:bodyPr>
          <a:lstStyle/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hu-HU" sz="2200" dirty="0"/>
              <a:t> Regisztráció és bejelentkezés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hu-HU" sz="2200" dirty="0"/>
              <a:t> Étlapkezelés (menü opciók)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hu-HU" sz="2200" dirty="0"/>
              <a:t> Allergének, tápérték információk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hu-HU" sz="2200" dirty="0"/>
              <a:t> Rendelési és lemondási rendszer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hu-HU" sz="2200" dirty="0"/>
              <a:t> Ebédkártya leolvasás</a:t>
            </a:r>
          </a:p>
          <a:p>
            <a:pPr lv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hu-HU" sz="2200" dirty="0"/>
              <a:t> Számla generálás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8A10CF98-B20C-498A-B49A-54F33274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 b="1" dirty="0">
                <a:latin typeface="Bahnschrift SemiBold" panose="020B0502040204020203" pitchFamily="34" charset="0"/>
              </a:rPr>
              <a:t>Funkciók</a:t>
            </a:r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C9E5FC47-ECCF-4F59-A408-5D6554FD9058}"/>
              </a:ext>
            </a:extLst>
          </p:cNvPr>
          <p:cNvGrpSpPr/>
          <p:nvPr/>
        </p:nvGrpSpPr>
        <p:grpSpPr>
          <a:xfrm>
            <a:off x="10565538" y="349786"/>
            <a:ext cx="1418895" cy="1258023"/>
            <a:chOff x="10565538" y="349786"/>
            <a:chExt cx="1418895" cy="1258023"/>
          </a:xfrm>
        </p:grpSpPr>
        <p:pic>
          <p:nvPicPr>
            <p:cNvPr id="11" name="Kép 10">
              <a:extLst>
                <a:ext uri="{FF2B5EF4-FFF2-40B4-BE49-F238E27FC236}">
                  <a16:creationId xmlns:a16="http://schemas.microsoft.com/office/drawing/2014/main" id="{23AAEA1F-2587-4749-9229-A2366B6B08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55" r="67375"/>
            <a:stretch/>
          </p:blipFill>
          <p:spPr>
            <a:xfrm>
              <a:off x="10619475" y="1036308"/>
              <a:ext cx="1364958" cy="571501"/>
            </a:xfrm>
            <a:prstGeom prst="rect">
              <a:avLst/>
            </a:prstGeom>
          </p:spPr>
        </p:pic>
        <p:pic>
          <p:nvPicPr>
            <p:cNvPr id="12" name="Kép 11">
              <a:extLst>
                <a:ext uri="{FF2B5EF4-FFF2-40B4-BE49-F238E27FC236}">
                  <a16:creationId xmlns:a16="http://schemas.microsoft.com/office/drawing/2014/main" id="{E758450C-B61C-4683-B202-BD49BB80DC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1666" b="38896"/>
            <a:stretch/>
          </p:blipFill>
          <p:spPr>
            <a:xfrm>
              <a:off x="10565538" y="349786"/>
              <a:ext cx="1418895" cy="745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632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758DB2-9D10-47A2-925C-F8A85855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344" y="1889582"/>
            <a:ext cx="10058400" cy="45460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sz="2200" dirty="0"/>
              <a:t> </a:t>
            </a:r>
            <a:r>
              <a:rPr lang="hu-HU" sz="2200" dirty="0">
                <a:solidFill>
                  <a:srgbClr val="BD582C"/>
                </a:solidFill>
              </a:rPr>
              <a:t>Backend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sz="2000" dirty="0" err="1"/>
              <a:t>Laravel</a:t>
            </a:r>
            <a:endParaRPr lang="hu-HU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sz="2200" dirty="0"/>
              <a:t> </a:t>
            </a:r>
            <a:r>
              <a:rPr lang="hu-HU" sz="2200" dirty="0">
                <a:solidFill>
                  <a:srgbClr val="BD582C"/>
                </a:solidFill>
              </a:rPr>
              <a:t>Frontend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sz="2000" dirty="0"/>
              <a:t>Vue.js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sz="2200" dirty="0"/>
              <a:t> </a:t>
            </a:r>
            <a:r>
              <a:rPr lang="hu-HU" sz="2200" dirty="0">
                <a:solidFill>
                  <a:srgbClr val="BD582C"/>
                </a:solidFill>
              </a:rPr>
              <a:t>Adatbázis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hu-HU" sz="2000" dirty="0"/>
              <a:t>Relációs adatbázis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B1162F8F-91B4-45FA-8FCD-4AE20D40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 b="1" dirty="0">
                <a:latin typeface="Bahnschrift SemiBold" panose="020B0502040204020203" pitchFamily="34" charset="0"/>
              </a:rPr>
              <a:t>Felépítése </a:t>
            </a:r>
          </a:p>
        </p:txBody>
      </p: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C6623B84-5C27-42DA-B75B-974214315DBD}"/>
              </a:ext>
            </a:extLst>
          </p:cNvPr>
          <p:cNvGrpSpPr/>
          <p:nvPr/>
        </p:nvGrpSpPr>
        <p:grpSpPr>
          <a:xfrm>
            <a:off x="10565538" y="349786"/>
            <a:ext cx="1418895" cy="1258023"/>
            <a:chOff x="10565538" y="349786"/>
            <a:chExt cx="1418895" cy="1258023"/>
          </a:xfrm>
        </p:grpSpPr>
        <p:pic>
          <p:nvPicPr>
            <p:cNvPr id="11" name="Kép 10">
              <a:extLst>
                <a:ext uri="{FF2B5EF4-FFF2-40B4-BE49-F238E27FC236}">
                  <a16:creationId xmlns:a16="http://schemas.microsoft.com/office/drawing/2014/main" id="{DFFBB35C-87E4-4EE2-AD37-CCCBBCB696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55" r="67375"/>
            <a:stretch/>
          </p:blipFill>
          <p:spPr>
            <a:xfrm>
              <a:off x="10619475" y="1036308"/>
              <a:ext cx="1364958" cy="571501"/>
            </a:xfrm>
            <a:prstGeom prst="rect">
              <a:avLst/>
            </a:prstGeom>
          </p:spPr>
        </p:pic>
        <p:pic>
          <p:nvPicPr>
            <p:cNvPr id="12" name="Kép 11">
              <a:extLst>
                <a:ext uri="{FF2B5EF4-FFF2-40B4-BE49-F238E27FC236}">
                  <a16:creationId xmlns:a16="http://schemas.microsoft.com/office/drawing/2014/main" id="{662AE874-06A5-4981-9568-5DE0DB5D35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1666" b="38896"/>
            <a:stretch/>
          </p:blipFill>
          <p:spPr>
            <a:xfrm>
              <a:off x="10565538" y="349786"/>
              <a:ext cx="1418895" cy="745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586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775652-02D3-4343-B0A8-5C16A25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ahnschrift SemiBold" panose="020B0502040204020203" pitchFamily="34" charset="0"/>
              </a:rPr>
              <a:t>Munkamegosztás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32DA0C3-2B61-4113-AD5E-5C0C7B466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u-HU" dirty="0"/>
              <a:t>Atkári Ariella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B6E21CF-8DD2-4C9D-94F2-3E42E0993C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Adatbázis tervezés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Regisztráció, bejelentkezés</a:t>
            </a:r>
            <a:endParaRPr lang="hu-HU" sz="1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Felehasználók kezelése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Ételek és hozzávalók kezelése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Rendelések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CF772AA-AADB-421B-9B9F-F9CBC3774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hu-HU" dirty="0"/>
              <a:t>Farkas Dominik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FA3B530-5977-4B61-B1B0-6F0B4C63782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Felhasználói felület tervezés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Hardver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Étlap kezelés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Menü készítő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/>
              <a:t> Számla generálás</a:t>
            </a:r>
          </a:p>
          <a:p>
            <a:endParaRPr lang="hu-HU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722FCDE3-11D2-4077-A015-66490BCC018E}"/>
              </a:ext>
            </a:extLst>
          </p:cNvPr>
          <p:cNvCxnSpPr>
            <a:cxnSpLocks/>
          </p:cNvCxnSpPr>
          <p:nvPr/>
        </p:nvCxnSpPr>
        <p:spPr>
          <a:xfrm>
            <a:off x="1209600" y="1738800"/>
            <a:ext cx="994608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AD93B2E8-3D33-41C2-91A8-1FB692380CE5}"/>
              </a:ext>
            </a:extLst>
          </p:cNvPr>
          <p:cNvGrpSpPr/>
          <p:nvPr/>
        </p:nvGrpSpPr>
        <p:grpSpPr>
          <a:xfrm>
            <a:off x="10565538" y="349786"/>
            <a:ext cx="1418895" cy="1258023"/>
            <a:chOff x="10565538" y="349786"/>
            <a:chExt cx="1418895" cy="1258023"/>
          </a:xfrm>
        </p:grpSpPr>
        <p:pic>
          <p:nvPicPr>
            <p:cNvPr id="10" name="Kép 9">
              <a:extLst>
                <a:ext uri="{FF2B5EF4-FFF2-40B4-BE49-F238E27FC236}">
                  <a16:creationId xmlns:a16="http://schemas.microsoft.com/office/drawing/2014/main" id="{9966BA5A-A620-488E-8615-41FB1F1AE9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55" r="67375"/>
            <a:stretch/>
          </p:blipFill>
          <p:spPr>
            <a:xfrm>
              <a:off x="10619475" y="1036308"/>
              <a:ext cx="1364958" cy="571501"/>
            </a:xfrm>
            <a:prstGeom prst="rect">
              <a:avLst/>
            </a:prstGeom>
          </p:spPr>
        </p:pic>
        <p:pic>
          <p:nvPicPr>
            <p:cNvPr id="11" name="Kép 10">
              <a:extLst>
                <a:ext uri="{FF2B5EF4-FFF2-40B4-BE49-F238E27FC236}">
                  <a16:creationId xmlns:a16="http://schemas.microsoft.com/office/drawing/2014/main" id="{3B382D26-9076-4156-8E56-6C797943E1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1666" b="38896"/>
            <a:stretch/>
          </p:blipFill>
          <p:spPr>
            <a:xfrm>
              <a:off x="10565538" y="349786"/>
              <a:ext cx="1418895" cy="745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491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5F2576-93E3-4E11-AD5A-5982C144E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2934"/>
            <a:ext cx="3200400" cy="2286000"/>
          </a:xfrm>
        </p:spPr>
        <p:txBody>
          <a:bodyPr/>
          <a:lstStyle/>
          <a:p>
            <a:r>
              <a:rPr lang="hu-HU" dirty="0">
                <a:latin typeface="Bahnschrift SemiBold" panose="020B0502040204020203" pitchFamily="34" charset="0"/>
              </a:rPr>
              <a:t>Backend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1483CC7-2FF0-4B57-872B-832994FD7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259455"/>
            <a:ext cx="3562350" cy="3684270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2000" dirty="0" err="1"/>
              <a:t>Laravel</a:t>
            </a:r>
            <a:r>
              <a:rPr lang="hu-HU" sz="2000" dirty="0"/>
              <a:t> 12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2000" dirty="0"/>
              <a:t>Migrációk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2000" dirty="0"/>
              <a:t>Modellek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2000" dirty="0"/>
              <a:t>Kontrollerek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u-HU" sz="1800" dirty="0"/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9D1513B7-E14B-483F-9E1D-2F9ED7A62155}"/>
              </a:ext>
            </a:extLst>
          </p:cNvPr>
          <p:cNvGrpSpPr/>
          <p:nvPr/>
        </p:nvGrpSpPr>
        <p:grpSpPr>
          <a:xfrm>
            <a:off x="10565538" y="349786"/>
            <a:ext cx="1418895" cy="1258023"/>
            <a:chOff x="10565538" y="349786"/>
            <a:chExt cx="1418895" cy="1258023"/>
          </a:xfrm>
        </p:grpSpPr>
        <p:pic>
          <p:nvPicPr>
            <p:cNvPr id="10" name="Kép 9">
              <a:extLst>
                <a:ext uri="{FF2B5EF4-FFF2-40B4-BE49-F238E27FC236}">
                  <a16:creationId xmlns:a16="http://schemas.microsoft.com/office/drawing/2014/main" id="{AF68DAD7-58FF-4254-A264-3393E8FB07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55" r="67375"/>
            <a:stretch/>
          </p:blipFill>
          <p:spPr>
            <a:xfrm>
              <a:off x="10619475" y="1036308"/>
              <a:ext cx="1364958" cy="571501"/>
            </a:xfrm>
            <a:prstGeom prst="rect">
              <a:avLst/>
            </a:prstGeom>
          </p:spPr>
        </p:pic>
        <p:pic>
          <p:nvPicPr>
            <p:cNvPr id="11" name="Kép 10">
              <a:extLst>
                <a:ext uri="{FF2B5EF4-FFF2-40B4-BE49-F238E27FC236}">
                  <a16:creationId xmlns:a16="http://schemas.microsoft.com/office/drawing/2014/main" id="{8F9A0D26-C9F9-4EBD-9287-1F6D4C562B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1666" b="38896"/>
            <a:stretch/>
          </p:blipFill>
          <p:spPr>
            <a:xfrm>
              <a:off x="10565538" y="349786"/>
              <a:ext cx="1418895" cy="745451"/>
            </a:xfrm>
            <a:prstGeom prst="rect">
              <a:avLst/>
            </a:prstGeom>
          </p:spPr>
        </p:pic>
      </p:grpSp>
      <p:pic>
        <p:nvPicPr>
          <p:cNvPr id="5" name="Kép 4">
            <a:extLst>
              <a:ext uri="{FF2B5EF4-FFF2-40B4-BE49-F238E27FC236}">
                <a16:creationId xmlns:a16="http://schemas.microsoft.com/office/drawing/2014/main" id="{D033E091-C059-4214-9245-4665892397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5" t="811" r="5434" b="-1"/>
          <a:stretch/>
        </p:blipFill>
        <p:spPr>
          <a:xfrm>
            <a:off x="5129212" y="1095237"/>
            <a:ext cx="2590800" cy="3807991"/>
          </a:xfrm>
          <a:prstGeom prst="rect">
            <a:avLst/>
          </a:prstGeom>
          <a:ln w="76200" cap="sq">
            <a:solidFill>
              <a:srgbClr val="E48312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37DBD32-194B-4032-B284-F858E2573D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9" r="11023"/>
          <a:stretch/>
        </p:blipFill>
        <p:spPr>
          <a:xfrm>
            <a:off x="8617510" y="2051684"/>
            <a:ext cx="2657475" cy="3620005"/>
          </a:xfrm>
          <a:prstGeom prst="rect">
            <a:avLst/>
          </a:prstGeom>
          <a:ln w="76200" cap="sq">
            <a:solidFill>
              <a:srgbClr val="E48312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9693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 helye 3">
            <a:extLst>
              <a:ext uri="{FF2B5EF4-FFF2-40B4-BE49-F238E27FC236}">
                <a16:creationId xmlns:a16="http://schemas.microsoft.com/office/drawing/2014/main" id="{5A03AB81-7D99-4C1A-BBE2-727445750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259455"/>
            <a:ext cx="3562350" cy="3684270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2000" dirty="0"/>
              <a:t>Vue.js 3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2000" dirty="0" err="1"/>
              <a:t>Axios</a:t>
            </a:r>
            <a:endParaRPr lang="hu-HU" sz="20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2000" dirty="0" err="1"/>
              <a:t>Bootstrap</a:t>
            </a:r>
            <a:endParaRPr lang="hu-HU" sz="20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u-HU" sz="1800" dirty="0"/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56BAE57D-1584-4B02-A4E9-FF150F42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2934"/>
            <a:ext cx="3200400" cy="2286000"/>
          </a:xfrm>
        </p:spPr>
        <p:txBody>
          <a:bodyPr/>
          <a:lstStyle/>
          <a:p>
            <a:r>
              <a:rPr lang="hu-HU" dirty="0">
                <a:latin typeface="Bahnschrift SemiBold" panose="020B0502040204020203" pitchFamily="34" charset="0"/>
              </a:rPr>
              <a:t>Frontend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3D03ACE2-F537-4DD5-8C31-221864AAC3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77" t="5911" r="45001" b="3142"/>
          <a:stretch/>
        </p:blipFill>
        <p:spPr>
          <a:xfrm>
            <a:off x="5138832" y="1081087"/>
            <a:ext cx="2552700" cy="4695825"/>
          </a:xfrm>
          <a:prstGeom prst="rect">
            <a:avLst/>
          </a:prstGeom>
          <a:ln w="76200" cap="sq">
            <a:solidFill>
              <a:srgbClr val="E48312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710C213-02AB-4860-89DB-F1799A2881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47"/>
          <a:stretch/>
        </p:blipFill>
        <p:spPr>
          <a:xfrm>
            <a:off x="8448864" y="2530640"/>
            <a:ext cx="2552700" cy="2181529"/>
          </a:xfrm>
          <a:prstGeom prst="rect">
            <a:avLst/>
          </a:prstGeom>
          <a:ln w="76200" cap="sq">
            <a:solidFill>
              <a:srgbClr val="E48312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BD8D9C24-6A98-4359-8A9D-3FEAE8066B38}"/>
              </a:ext>
            </a:extLst>
          </p:cNvPr>
          <p:cNvGrpSpPr/>
          <p:nvPr/>
        </p:nvGrpSpPr>
        <p:grpSpPr>
          <a:xfrm>
            <a:off x="10565538" y="349786"/>
            <a:ext cx="1418895" cy="1258023"/>
            <a:chOff x="10565538" y="349786"/>
            <a:chExt cx="1418895" cy="1258023"/>
          </a:xfrm>
        </p:grpSpPr>
        <p:pic>
          <p:nvPicPr>
            <p:cNvPr id="9" name="Kép 8">
              <a:extLst>
                <a:ext uri="{FF2B5EF4-FFF2-40B4-BE49-F238E27FC236}">
                  <a16:creationId xmlns:a16="http://schemas.microsoft.com/office/drawing/2014/main" id="{38EFA0F7-79F5-4841-B0B4-BA913AF4FF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55" r="67375"/>
            <a:stretch/>
          </p:blipFill>
          <p:spPr>
            <a:xfrm>
              <a:off x="10619475" y="1036308"/>
              <a:ext cx="1364958" cy="571501"/>
            </a:xfrm>
            <a:prstGeom prst="rect">
              <a:avLst/>
            </a:prstGeom>
          </p:spPr>
        </p:pic>
        <p:pic>
          <p:nvPicPr>
            <p:cNvPr id="10" name="Kép 9">
              <a:extLst>
                <a:ext uri="{FF2B5EF4-FFF2-40B4-BE49-F238E27FC236}">
                  <a16:creationId xmlns:a16="http://schemas.microsoft.com/office/drawing/2014/main" id="{BDF66BF5-56DB-473D-A8D7-100866CBF0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1666" b="38896"/>
            <a:stretch/>
          </p:blipFill>
          <p:spPr>
            <a:xfrm>
              <a:off x="10565538" y="349786"/>
              <a:ext cx="1418895" cy="745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073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758DB2-9D10-47A2-925C-F8A85855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554" y="1911310"/>
            <a:ext cx="1005840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16 tábla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 Mintaadatok</a:t>
            </a:r>
          </a:p>
          <a:p>
            <a:endParaRPr lang="hu-HU" dirty="0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1BABF97B-7E63-454C-9CDB-F386138F1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 b="1" dirty="0">
                <a:latin typeface="Bahnschrift SemiBold" panose="020B0502040204020203" pitchFamily="34" charset="0"/>
              </a:rPr>
              <a:t>Adatbázis</a:t>
            </a:r>
          </a:p>
        </p:txBody>
      </p: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E802B2B8-8A4C-4A1C-A3DA-1085A7D5C7F6}"/>
              </a:ext>
            </a:extLst>
          </p:cNvPr>
          <p:cNvGrpSpPr/>
          <p:nvPr/>
        </p:nvGrpSpPr>
        <p:grpSpPr>
          <a:xfrm>
            <a:off x="10565538" y="349786"/>
            <a:ext cx="1418895" cy="1258023"/>
            <a:chOff x="10565538" y="349786"/>
            <a:chExt cx="1418895" cy="1258023"/>
          </a:xfrm>
        </p:grpSpPr>
        <p:pic>
          <p:nvPicPr>
            <p:cNvPr id="8" name="Kép 7">
              <a:extLst>
                <a:ext uri="{FF2B5EF4-FFF2-40B4-BE49-F238E27FC236}">
                  <a16:creationId xmlns:a16="http://schemas.microsoft.com/office/drawing/2014/main" id="{2F280203-E1A7-4586-A915-B522FFD904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55" r="67375"/>
            <a:stretch/>
          </p:blipFill>
          <p:spPr>
            <a:xfrm>
              <a:off x="10619475" y="1036308"/>
              <a:ext cx="1364958" cy="571501"/>
            </a:xfrm>
            <a:prstGeom prst="rect">
              <a:avLst/>
            </a:prstGeom>
          </p:spPr>
        </p:pic>
        <p:pic>
          <p:nvPicPr>
            <p:cNvPr id="9" name="Kép 8">
              <a:extLst>
                <a:ext uri="{FF2B5EF4-FFF2-40B4-BE49-F238E27FC236}">
                  <a16:creationId xmlns:a16="http://schemas.microsoft.com/office/drawing/2014/main" id="{90937401-8474-4C4C-8353-0BC085D4C9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1666" b="38896"/>
            <a:stretch/>
          </p:blipFill>
          <p:spPr>
            <a:xfrm>
              <a:off x="10565538" y="349786"/>
              <a:ext cx="1418895" cy="745451"/>
            </a:xfrm>
            <a:prstGeom prst="rect">
              <a:avLst/>
            </a:prstGeom>
          </p:spPr>
        </p:pic>
      </p:grpSp>
      <p:pic>
        <p:nvPicPr>
          <p:cNvPr id="5" name="Kép 4">
            <a:extLst>
              <a:ext uri="{FF2B5EF4-FFF2-40B4-BE49-F238E27FC236}">
                <a16:creationId xmlns:a16="http://schemas.microsoft.com/office/drawing/2014/main" id="{12F1D82F-A13E-4282-A8D3-3080BA7F58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40" t="-648" r="28565" b="-478"/>
          <a:stretch/>
        </p:blipFill>
        <p:spPr>
          <a:xfrm>
            <a:off x="1600330" y="2929002"/>
            <a:ext cx="2435383" cy="3005668"/>
          </a:xfrm>
          <a:prstGeom prst="rect">
            <a:avLst/>
          </a:prstGeom>
          <a:ln w="76200" cap="sq">
            <a:solidFill>
              <a:srgbClr val="E48312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645605F-0923-431D-B3D3-AE4E34E70E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91" t="2483" r="8800" b="5522"/>
          <a:stretch/>
        </p:blipFill>
        <p:spPr>
          <a:xfrm>
            <a:off x="5144611" y="1911310"/>
            <a:ext cx="6023355" cy="4146617"/>
          </a:xfrm>
          <a:prstGeom prst="rect">
            <a:avLst/>
          </a:prstGeom>
          <a:ln w="76200" cap="sq">
            <a:solidFill>
              <a:srgbClr val="E48312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8799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5F2576-93E3-4E11-AD5A-5982C144E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2934"/>
            <a:ext cx="3200400" cy="2286000"/>
          </a:xfrm>
        </p:spPr>
        <p:txBody>
          <a:bodyPr/>
          <a:lstStyle/>
          <a:p>
            <a:r>
              <a:rPr lang="hu-HU" dirty="0" err="1">
                <a:latin typeface="Bahnschrift SemiBold" panose="020B0502040204020203" pitchFamily="34" charset="0"/>
              </a:rPr>
              <a:t>Reszponzivitás</a:t>
            </a:r>
            <a:endParaRPr lang="hu-HU" dirty="0">
              <a:latin typeface="Bahnschrift SemiBold" panose="020B0502040204020203" pitchFamily="34" charset="0"/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1483CC7-2FF0-4B57-872B-832994FD7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850" y="3259455"/>
            <a:ext cx="3562350" cy="3684270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u-HU" sz="1800" dirty="0" err="1"/>
              <a:t>Bootstrap</a:t>
            </a:r>
            <a:endParaRPr lang="hu-HU" sz="1800" dirty="0"/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3317F239-9F4A-4F2E-A3AC-DBDE360A6AFF}"/>
              </a:ext>
            </a:extLst>
          </p:cNvPr>
          <p:cNvGrpSpPr/>
          <p:nvPr/>
        </p:nvGrpSpPr>
        <p:grpSpPr>
          <a:xfrm>
            <a:off x="10565538" y="349786"/>
            <a:ext cx="1418895" cy="1258023"/>
            <a:chOff x="10565538" y="349786"/>
            <a:chExt cx="1418895" cy="1258023"/>
          </a:xfrm>
        </p:grpSpPr>
        <p:pic>
          <p:nvPicPr>
            <p:cNvPr id="7" name="Kép 6">
              <a:extLst>
                <a:ext uri="{FF2B5EF4-FFF2-40B4-BE49-F238E27FC236}">
                  <a16:creationId xmlns:a16="http://schemas.microsoft.com/office/drawing/2014/main" id="{C2CC19C8-CD10-42F5-9D72-C77B335B05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55" r="67375"/>
            <a:stretch/>
          </p:blipFill>
          <p:spPr>
            <a:xfrm>
              <a:off x="10619475" y="1036308"/>
              <a:ext cx="1364958" cy="571501"/>
            </a:xfrm>
            <a:prstGeom prst="rect">
              <a:avLst/>
            </a:prstGeom>
          </p:spPr>
        </p:pic>
        <p:pic>
          <p:nvPicPr>
            <p:cNvPr id="8" name="Kép 7">
              <a:extLst>
                <a:ext uri="{FF2B5EF4-FFF2-40B4-BE49-F238E27FC236}">
                  <a16:creationId xmlns:a16="http://schemas.microsoft.com/office/drawing/2014/main" id="{5AF4A5EB-86E0-4324-B31A-9A09255FD8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1666" b="38896"/>
            <a:stretch/>
          </p:blipFill>
          <p:spPr>
            <a:xfrm>
              <a:off x="10565538" y="349786"/>
              <a:ext cx="1418895" cy="745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019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775652-02D3-4343-B0A8-5C16A25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ahnschrift SemiBold" panose="020B0502040204020203" pitchFamily="34" charset="0"/>
              </a:rPr>
              <a:t>Tesztelés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32DA0C3-2B61-4113-AD5E-5C0C7B466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u-HU" dirty="0" err="1"/>
              <a:t>BAckend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B6E21CF-8DD2-4C9D-94F2-3E42E0993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573868"/>
            <a:ext cx="4937760" cy="3378200"/>
          </a:xfrm>
        </p:spPr>
        <p:txBody>
          <a:bodyPr/>
          <a:lstStyle/>
          <a:p>
            <a:pPr lvl="1" algn="ctr">
              <a:buFont typeface="Arial" panose="020B0604020202020204" pitchFamily="34" charset="0"/>
              <a:buChar char="•"/>
            </a:pPr>
            <a:r>
              <a:rPr lang="hu-HU" dirty="0"/>
              <a:t>Postman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CF772AA-AADB-421B-9B9F-F9CBC3774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hu-HU" dirty="0"/>
              <a:t>frontend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FA3B530-5977-4B61-B1B0-6F0B4C63782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 algn="ctr">
              <a:buFont typeface="Arial" panose="020B0604020202020204" pitchFamily="34" charset="0"/>
              <a:buChar char="•"/>
            </a:pPr>
            <a:r>
              <a:rPr lang="hu-HU" dirty="0" err="1"/>
              <a:t>Selenium</a:t>
            </a:r>
            <a:r>
              <a:rPr lang="hu-HU" dirty="0"/>
              <a:t> </a:t>
            </a:r>
            <a:r>
              <a:rPr lang="hu-HU" dirty="0" err="1"/>
              <a:t>Library</a:t>
            </a:r>
            <a:r>
              <a:rPr lang="hu-HU" dirty="0"/>
              <a:t> – </a:t>
            </a:r>
            <a:r>
              <a:rPr lang="hu-HU" dirty="0" err="1"/>
              <a:t>Robotframework</a:t>
            </a:r>
            <a:endParaRPr lang="hu-HU" dirty="0"/>
          </a:p>
          <a:p>
            <a:pPr marL="201168" lvl="1" indent="0">
              <a:buNone/>
            </a:pPr>
            <a:endParaRPr lang="hu-HU" dirty="0"/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257008D6-FD12-4F82-9FAE-0E4266FC30CF}"/>
              </a:ext>
            </a:extLst>
          </p:cNvPr>
          <p:cNvGrpSpPr/>
          <p:nvPr/>
        </p:nvGrpSpPr>
        <p:grpSpPr>
          <a:xfrm>
            <a:off x="10565538" y="349786"/>
            <a:ext cx="1418895" cy="1258023"/>
            <a:chOff x="10565538" y="349786"/>
            <a:chExt cx="1418895" cy="1258023"/>
          </a:xfrm>
        </p:grpSpPr>
        <p:pic>
          <p:nvPicPr>
            <p:cNvPr id="13" name="Kép 12">
              <a:extLst>
                <a:ext uri="{FF2B5EF4-FFF2-40B4-BE49-F238E27FC236}">
                  <a16:creationId xmlns:a16="http://schemas.microsoft.com/office/drawing/2014/main" id="{146B191F-A718-4014-B337-0005E2B62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555" r="67375"/>
            <a:stretch/>
          </p:blipFill>
          <p:spPr>
            <a:xfrm>
              <a:off x="10619475" y="1036308"/>
              <a:ext cx="1364958" cy="571501"/>
            </a:xfrm>
            <a:prstGeom prst="rect">
              <a:avLst/>
            </a:prstGeom>
          </p:spPr>
        </p:pic>
        <p:pic>
          <p:nvPicPr>
            <p:cNvPr id="14" name="Kép 13">
              <a:extLst>
                <a:ext uri="{FF2B5EF4-FFF2-40B4-BE49-F238E27FC236}">
                  <a16:creationId xmlns:a16="http://schemas.microsoft.com/office/drawing/2014/main" id="{3C0678C3-DC3F-47F5-8610-DB4180EAD2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1666" b="38896"/>
            <a:stretch/>
          </p:blipFill>
          <p:spPr>
            <a:xfrm>
              <a:off x="10565538" y="349786"/>
              <a:ext cx="1418895" cy="745451"/>
            </a:xfrm>
            <a:prstGeom prst="rect">
              <a:avLst/>
            </a:prstGeom>
          </p:spPr>
        </p:pic>
      </p:grpSp>
      <p:pic>
        <p:nvPicPr>
          <p:cNvPr id="8" name="Kép 7">
            <a:extLst>
              <a:ext uri="{FF2B5EF4-FFF2-40B4-BE49-F238E27FC236}">
                <a16:creationId xmlns:a16="http://schemas.microsoft.com/office/drawing/2014/main" id="{65D09F99-D0F3-443A-AAEC-7BE7F46CE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2568" b="49410"/>
          <a:stretch/>
        </p:blipFill>
        <p:spPr>
          <a:xfrm>
            <a:off x="2227708" y="3310150"/>
            <a:ext cx="2645282" cy="2448262"/>
          </a:xfrm>
          <a:prstGeom prst="rect">
            <a:avLst/>
          </a:prstGeom>
          <a:ln w="76200" cap="sq">
            <a:solidFill>
              <a:srgbClr val="E48312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C0EA3B83-8F57-4D5D-B3CB-8E7AE8FF75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68" t="7300" r="26371" b="-353"/>
          <a:stretch/>
        </p:blipFill>
        <p:spPr>
          <a:xfrm>
            <a:off x="7562850" y="3552296"/>
            <a:ext cx="2247900" cy="1143529"/>
          </a:xfrm>
          <a:prstGeom prst="rect">
            <a:avLst/>
          </a:prstGeom>
          <a:ln w="76200" cap="sq">
            <a:solidFill>
              <a:srgbClr val="E48312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1664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20EF3F3C-374B-461F-BAF4-6C213DE7C8BB}"/>
              </a:ext>
            </a:extLst>
          </p:cNvPr>
          <p:cNvCxnSpPr>
            <a:cxnSpLocks/>
          </p:cNvCxnSpPr>
          <p:nvPr/>
        </p:nvCxnSpPr>
        <p:spPr>
          <a:xfrm>
            <a:off x="1209675" y="1737360"/>
            <a:ext cx="994600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Kép 2">
            <a:extLst>
              <a:ext uri="{FF2B5EF4-FFF2-40B4-BE49-F238E27FC236}">
                <a16:creationId xmlns:a16="http://schemas.microsoft.com/office/drawing/2014/main" id="{FE91A941-BC8A-4E2A-B780-F3F3D6A9B3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55" r="67375"/>
          <a:stretch/>
        </p:blipFill>
        <p:spPr>
          <a:xfrm>
            <a:off x="10619475" y="1036308"/>
            <a:ext cx="1364958" cy="571501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78D3DB18-E771-4DF0-84FA-206E8FA418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1666" b="38896"/>
          <a:stretch/>
        </p:blipFill>
        <p:spPr>
          <a:xfrm>
            <a:off x="10565538" y="349786"/>
            <a:ext cx="1418895" cy="745451"/>
          </a:xfrm>
          <a:prstGeom prst="rect">
            <a:avLst/>
          </a:prstGeom>
        </p:spPr>
      </p:pic>
      <p:sp>
        <p:nvSpPr>
          <p:cNvPr id="5" name="Cím 1">
            <a:extLst>
              <a:ext uri="{FF2B5EF4-FFF2-40B4-BE49-F238E27FC236}">
                <a16:creationId xmlns:a16="http://schemas.microsoft.com/office/drawing/2014/main" id="{175A5A3F-6F8F-4002-ADBD-CD8C93ECEEE1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b="1" dirty="0">
                <a:latin typeface="Bahnschrift SemiBold" panose="020B0502040204020203" pitchFamily="34" charset="0"/>
              </a:rPr>
              <a:t>Fejlesztési lehetőségek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654E07C9-ACD1-4AF5-9ECE-29158423F871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Mobilalkalmazás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Értesítés küldés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Több iskolára, több szolgáltatóra bontás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Ételek értékelése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Étkeztetési rend osztályokra, csoportokra bontva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latin typeface="Bahnschrift Light" panose="020B0502040204020203" pitchFamily="34" charset="0"/>
              </a:rPr>
              <a:t>Online fizetés (</a:t>
            </a:r>
            <a:r>
              <a:rPr lang="hu-HU" sz="2000" dirty="0" err="1">
                <a:latin typeface="Bahnschrift Light" panose="020B0502040204020203" pitchFamily="34" charset="0"/>
              </a:rPr>
              <a:t>SimplePay</a:t>
            </a:r>
            <a:r>
              <a:rPr lang="hu-HU" sz="2000" dirty="0">
                <a:latin typeface="Bahnschrift Light" panose="020B0502040204020203" pitchFamily="34" charset="0"/>
              </a:rPr>
              <a:t>)</a:t>
            </a:r>
          </a:p>
          <a:p>
            <a:pPr marL="201168" lvl="1" indent="0">
              <a:buFont typeface="Calibri" pitchFamily="34" charset="0"/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8007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20EF3F3C-374B-461F-BAF4-6C213DE7C8BB}"/>
              </a:ext>
            </a:extLst>
          </p:cNvPr>
          <p:cNvCxnSpPr>
            <a:cxnSpLocks/>
          </p:cNvCxnSpPr>
          <p:nvPr/>
        </p:nvCxnSpPr>
        <p:spPr>
          <a:xfrm>
            <a:off x="3205163" y="2154342"/>
            <a:ext cx="57816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Kép 2">
            <a:extLst>
              <a:ext uri="{FF2B5EF4-FFF2-40B4-BE49-F238E27FC236}">
                <a16:creationId xmlns:a16="http://schemas.microsoft.com/office/drawing/2014/main" id="{FE91A941-BC8A-4E2A-B780-F3F3D6A9B3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555" r="1153"/>
          <a:stretch/>
        </p:blipFill>
        <p:spPr>
          <a:xfrm>
            <a:off x="3864953" y="1462194"/>
            <a:ext cx="4462094" cy="616623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78D3DB18-E771-4DF0-84FA-206E8FA418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95" b="38896"/>
          <a:stretch/>
        </p:blipFill>
        <p:spPr>
          <a:xfrm>
            <a:off x="3817995" y="581028"/>
            <a:ext cx="4556011" cy="914838"/>
          </a:xfrm>
          <a:prstGeom prst="rect">
            <a:avLst/>
          </a:prstGeom>
        </p:spPr>
      </p:pic>
      <p:sp>
        <p:nvSpPr>
          <p:cNvPr id="5" name="Cím 1">
            <a:extLst>
              <a:ext uri="{FF2B5EF4-FFF2-40B4-BE49-F238E27FC236}">
                <a16:creationId xmlns:a16="http://schemas.microsoft.com/office/drawing/2014/main" id="{175A5A3F-6F8F-4002-ADBD-CD8C93ECEEE1}"/>
              </a:ext>
            </a:extLst>
          </p:cNvPr>
          <p:cNvSpPr txBox="1">
            <a:spLocks/>
          </p:cNvSpPr>
          <p:nvPr/>
        </p:nvSpPr>
        <p:spPr>
          <a:xfrm>
            <a:off x="1066800" y="2703622"/>
            <a:ext cx="10058400" cy="145075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000" b="1" dirty="0" err="1">
                <a:latin typeface="Bahnschrift SemiBold" panose="020B0502040204020203" pitchFamily="34" charset="0"/>
              </a:rPr>
              <a:t>Demo</a:t>
            </a:r>
            <a:endParaRPr lang="hu-HU" sz="6000" b="1" dirty="0">
              <a:latin typeface="Bahnschrift SemiBold" panose="020B0502040204020203" pitchFamily="34" charset="0"/>
            </a:endParaRP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0D5DF80E-C3F6-4A3A-98C9-825EEE99BB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5" r="14640"/>
          <a:stretch/>
        </p:blipFill>
        <p:spPr>
          <a:xfrm rot="6074309">
            <a:off x="253294" y="393819"/>
            <a:ext cx="1804052" cy="1476375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AF0C74E-3043-40A3-8603-B30A83BB9D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4" t="-711" r="26907" b="711"/>
          <a:stretch/>
        </p:blipFill>
        <p:spPr>
          <a:xfrm rot="4156304" flipH="1">
            <a:off x="10842996" y="4624346"/>
            <a:ext cx="1208569" cy="162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73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20EF3F3C-374B-461F-BAF4-6C213DE7C8BB}"/>
              </a:ext>
            </a:extLst>
          </p:cNvPr>
          <p:cNvCxnSpPr>
            <a:cxnSpLocks/>
          </p:cNvCxnSpPr>
          <p:nvPr/>
        </p:nvCxnSpPr>
        <p:spPr>
          <a:xfrm>
            <a:off x="3205163" y="2154342"/>
            <a:ext cx="57816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Kép 2">
            <a:extLst>
              <a:ext uri="{FF2B5EF4-FFF2-40B4-BE49-F238E27FC236}">
                <a16:creationId xmlns:a16="http://schemas.microsoft.com/office/drawing/2014/main" id="{FE91A941-BC8A-4E2A-B780-F3F3D6A9B3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555" r="1153"/>
          <a:stretch/>
        </p:blipFill>
        <p:spPr>
          <a:xfrm>
            <a:off x="3864953" y="1462194"/>
            <a:ext cx="4462094" cy="616623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78D3DB18-E771-4DF0-84FA-206E8FA418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95" b="38896"/>
          <a:stretch/>
        </p:blipFill>
        <p:spPr>
          <a:xfrm>
            <a:off x="3817995" y="581028"/>
            <a:ext cx="4556011" cy="914838"/>
          </a:xfrm>
          <a:prstGeom prst="rect">
            <a:avLst/>
          </a:prstGeom>
        </p:spPr>
      </p:pic>
      <p:sp>
        <p:nvSpPr>
          <p:cNvPr id="5" name="Cím 1">
            <a:extLst>
              <a:ext uri="{FF2B5EF4-FFF2-40B4-BE49-F238E27FC236}">
                <a16:creationId xmlns:a16="http://schemas.microsoft.com/office/drawing/2014/main" id="{175A5A3F-6F8F-4002-ADBD-CD8C93ECEEE1}"/>
              </a:ext>
            </a:extLst>
          </p:cNvPr>
          <p:cNvSpPr txBox="1">
            <a:spLocks/>
          </p:cNvSpPr>
          <p:nvPr/>
        </p:nvSpPr>
        <p:spPr>
          <a:xfrm>
            <a:off x="1066800" y="2703622"/>
            <a:ext cx="10058400" cy="145075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000" b="1" dirty="0">
                <a:latin typeface="Bahnschrift SemiBold" panose="020B0502040204020203" pitchFamily="34" charset="0"/>
              </a:rPr>
              <a:t>Kérdések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0D5DF80E-C3F6-4A3A-98C9-825EEE99BB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5" r="14640"/>
          <a:stretch/>
        </p:blipFill>
        <p:spPr>
          <a:xfrm rot="6074309">
            <a:off x="253294" y="393819"/>
            <a:ext cx="1804052" cy="1476375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AF0C74E-3043-40A3-8603-B30A83BB9D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4" t="-711" r="26907" b="711"/>
          <a:stretch/>
        </p:blipFill>
        <p:spPr>
          <a:xfrm rot="4156304" flipH="1">
            <a:off x="10842996" y="4624346"/>
            <a:ext cx="1208569" cy="162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4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gyenes összekötő 1">
            <a:extLst>
              <a:ext uri="{FF2B5EF4-FFF2-40B4-BE49-F238E27FC236}">
                <a16:creationId xmlns:a16="http://schemas.microsoft.com/office/drawing/2014/main" id="{20EF3F3C-374B-461F-BAF4-6C213DE7C8BB}"/>
              </a:ext>
            </a:extLst>
          </p:cNvPr>
          <p:cNvCxnSpPr>
            <a:cxnSpLocks/>
          </p:cNvCxnSpPr>
          <p:nvPr/>
        </p:nvCxnSpPr>
        <p:spPr>
          <a:xfrm>
            <a:off x="3205163" y="2154342"/>
            <a:ext cx="57816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Kép 2">
            <a:extLst>
              <a:ext uri="{FF2B5EF4-FFF2-40B4-BE49-F238E27FC236}">
                <a16:creationId xmlns:a16="http://schemas.microsoft.com/office/drawing/2014/main" id="{FE91A941-BC8A-4E2A-B780-F3F3D6A9B3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555" r="1153"/>
          <a:stretch/>
        </p:blipFill>
        <p:spPr>
          <a:xfrm>
            <a:off x="3864953" y="1462194"/>
            <a:ext cx="4462094" cy="616623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78D3DB18-E771-4DF0-84FA-206E8FA4188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95" b="38896"/>
          <a:stretch/>
        </p:blipFill>
        <p:spPr>
          <a:xfrm>
            <a:off x="3817995" y="581028"/>
            <a:ext cx="4556011" cy="914838"/>
          </a:xfrm>
          <a:prstGeom prst="rect">
            <a:avLst/>
          </a:prstGeom>
        </p:spPr>
      </p:pic>
      <p:sp>
        <p:nvSpPr>
          <p:cNvPr id="5" name="Cím 1">
            <a:extLst>
              <a:ext uri="{FF2B5EF4-FFF2-40B4-BE49-F238E27FC236}">
                <a16:creationId xmlns:a16="http://schemas.microsoft.com/office/drawing/2014/main" id="{175A5A3F-6F8F-4002-ADBD-CD8C93ECEEE1}"/>
              </a:ext>
            </a:extLst>
          </p:cNvPr>
          <p:cNvSpPr txBox="1">
            <a:spLocks/>
          </p:cNvSpPr>
          <p:nvPr/>
        </p:nvSpPr>
        <p:spPr>
          <a:xfrm>
            <a:off x="1066800" y="2703622"/>
            <a:ext cx="10058400" cy="145075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6000" b="1" dirty="0">
                <a:latin typeface="Bahnschrift SemiBold" panose="020B0502040204020203" pitchFamily="34" charset="0"/>
              </a:rPr>
              <a:t>Köszönjük a figyelmet!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0D5DF80E-C3F6-4A3A-98C9-825EEE99BB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5" r="14640"/>
          <a:stretch/>
        </p:blipFill>
        <p:spPr>
          <a:xfrm rot="6074309">
            <a:off x="253294" y="393819"/>
            <a:ext cx="1804052" cy="1476375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AF0C74E-3043-40A3-8603-B30A83BB9D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4" t="-711" r="26907" b="711"/>
          <a:stretch/>
        </p:blipFill>
        <p:spPr>
          <a:xfrm rot="4156304" flipH="1">
            <a:off x="10842996" y="4624346"/>
            <a:ext cx="1208569" cy="162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443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">
  <a:themeElements>
    <a:clrScheme name="Retrospektív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211</Words>
  <Application>Microsoft Office PowerPoint</Application>
  <PresentationFormat>Szélesvásznú</PresentationFormat>
  <Paragraphs>78</Paragraphs>
  <Slides>14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1" baseType="lpstr">
      <vt:lpstr>Arial</vt:lpstr>
      <vt:lpstr>Bahnschrift Light</vt:lpstr>
      <vt:lpstr>Bahnschrift SemiBold</vt:lpstr>
      <vt:lpstr>Calibri</vt:lpstr>
      <vt:lpstr>Calibri Light</vt:lpstr>
      <vt:lpstr>Wingdings</vt:lpstr>
      <vt:lpstr>Retrospektív</vt:lpstr>
      <vt:lpstr>PowerPoint-bemutató</vt:lpstr>
      <vt:lpstr>PowerPoint-bemutató</vt:lpstr>
      <vt:lpstr>Funkciók</vt:lpstr>
      <vt:lpstr>Felépítése </vt:lpstr>
      <vt:lpstr>Munkamegosztás</vt:lpstr>
      <vt:lpstr>Backend</vt:lpstr>
      <vt:lpstr>Frontend</vt:lpstr>
      <vt:lpstr>Adatbázis</vt:lpstr>
      <vt:lpstr>Reszponzivitás</vt:lpstr>
      <vt:lpstr>Tesztelés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Iskolai étkezéskezelő rendszer</dc:title>
  <dc:creator>Atkári Ariella</dc:creator>
  <cp:lastModifiedBy>Atkári Ariella</cp:lastModifiedBy>
  <cp:revision>63</cp:revision>
  <dcterms:created xsi:type="dcterms:W3CDTF">2026-03-03T06:30:40Z</dcterms:created>
  <dcterms:modified xsi:type="dcterms:W3CDTF">2026-03-10T08:47:31Z</dcterms:modified>
</cp:coreProperties>
</file>