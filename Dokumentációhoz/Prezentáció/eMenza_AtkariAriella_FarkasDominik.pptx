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88" r:id="rId2"/>
    <p:sldId id="289" r:id="rId3"/>
    <p:sldId id="259" r:id="rId4"/>
    <p:sldId id="260" r:id="rId5"/>
    <p:sldId id="274" r:id="rId6"/>
    <p:sldId id="285" r:id="rId7"/>
    <p:sldId id="268" r:id="rId8"/>
    <p:sldId id="266" r:id="rId9"/>
    <p:sldId id="269" r:id="rId10"/>
    <p:sldId id="272" r:id="rId11"/>
    <p:sldId id="282" r:id="rId12"/>
    <p:sldId id="283" r:id="rId13"/>
    <p:sldId id="29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8312"/>
    <a:srgbClr val="EFEFEF"/>
    <a:srgbClr val="FFFFFF"/>
    <a:srgbClr val="D83939"/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444" autoAdjust="0"/>
  </p:normalViewPr>
  <p:slideViewPr>
    <p:cSldViewPr snapToGrid="0">
      <p:cViewPr varScale="1">
        <p:scale>
          <a:sx n="93" d="100"/>
          <a:sy n="93" d="100"/>
        </p:scale>
        <p:origin x="12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Bemutatkozás</a:t>
            </a:r>
          </a:p>
          <a:p>
            <a:endParaRPr lang="hu-HU" dirty="0"/>
          </a:p>
          <a:p>
            <a:r>
              <a:rPr lang="hu-HU" dirty="0"/>
              <a:t>Vizsgaremekünk az </a:t>
            </a:r>
            <a:r>
              <a:rPr lang="hu-HU" dirty="0" err="1"/>
              <a:t>eMenza</a:t>
            </a:r>
            <a:endParaRPr lang="hu-HU" dirty="0"/>
          </a:p>
          <a:p>
            <a:endParaRPr lang="hu-HU" dirty="0"/>
          </a:p>
          <a:p>
            <a:r>
              <a:rPr lang="hu-HU" dirty="0"/>
              <a:t>Webalapú rendszer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887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Könnyen kezelhető, átlátható felület biztosítása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7837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/>
              <a:t>Konyha kérésére:  az „A” menüből cukormentes mindig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23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 err="1"/>
              <a:t>Laravel</a:t>
            </a:r>
            <a:r>
              <a:rPr lang="hu-HU" dirty="0"/>
              <a:t> keretrendszer backend (v12?)</a:t>
            </a:r>
          </a:p>
          <a:p>
            <a:r>
              <a:rPr lang="hu-HU" dirty="0"/>
              <a:t>Vue.js v3 </a:t>
            </a:r>
            <a:r>
              <a:rPr lang="hu-HU" dirty="0" err="1"/>
              <a:t>keretrendzsert</a:t>
            </a:r>
            <a:r>
              <a:rPr lang="hu-HU" dirty="0"/>
              <a:t> választottuk</a:t>
            </a:r>
          </a:p>
          <a:p>
            <a:r>
              <a:rPr lang="hu-HU" dirty="0"/>
              <a:t>Miért ezek? -  órákon ezeket alkalmaztuk, ismereteink elmélyítése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44225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Githubon</a:t>
            </a:r>
            <a:r>
              <a:rPr lang="hu-HU" dirty="0"/>
              <a:t>, verziókövetés</a:t>
            </a:r>
          </a:p>
          <a:p>
            <a:r>
              <a:rPr lang="hu-HU" dirty="0"/>
              <a:t>Feladatok megosztása – vegyesen frontend, backend -&gt; feladatonként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Adatbázis séma felépítése</a:t>
            </a:r>
          </a:p>
          <a:p>
            <a:r>
              <a:rPr lang="hu-HU" dirty="0" err="1"/>
              <a:t>Laravel</a:t>
            </a:r>
            <a:r>
              <a:rPr lang="hu-HU" dirty="0"/>
              <a:t> beépített parancsok használata </a:t>
            </a:r>
          </a:p>
          <a:p>
            <a:r>
              <a:rPr lang="hu-HU" dirty="0" err="1"/>
              <a:t>Artisan</a:t>
            </a:r>
            <a:r>
              <a:rPr lang="hu-HU" dirty="0"/>
              <a:t> használata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4633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Vue</a:t>
            </a:r>
            <a:r>
              <a:rPr lang="hu-HU" dirty="0"/>
              <a:t> v3</a:t>
            </a:r>
          </a:p>
          <a:p>
            <a:r>
              <a:rPr lang="hu-HU" dirty="0" err="1"/>
              <a:t>Axios</a:t>
            </a:r>
            <a:r>
              <a:rPr lang="hu-HU" dirty="0"/>
              <a:t>: kapcsolat a backenddel</a:t>
            </a:r>
          </a:p>
          <a:p>
            <a:r>
              <a:rPr lang="hu-HU" dirty="0" err="1"/>
              <a:t>Bootstrap</a:t>
            </a:r>
            <a:r>
              <a:rPr lang="hu-HU" dirty="0"/>
              <a:t>: </a:t>
            </a:r>
            <a:r>
              <a:rPr lang="hu-HU" dirty="0" err="1"/>
              <a:t>reszponzivitás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Elsődleges kulcsok, idegen kulcsok használata</a:t>
            </a:r>
          </a:p>
          <a:p>
            <a:r>
              <a:rPr lang="hu-HU" dirty="0"/>
              <a:t>Összekötő táblák</a:t>
            </a:r>
          </a:p>
          <a:p>
            <a:r>
              <a:rPr lang="hu-HU" dirty="0" err="1"/>
              <a:t>Seeder</a:t>
            </a:r>
            <a:r>
              <a:rPr lang="hu-HU" dirty="0"/>
              <a:t> segítségével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46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Dinamikus igazodás a kijelzőhöz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Fókusz: Optimalizált telefon képernyőhöz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Alsó navigációs menü telefonos nézetnél -&gt; tudjuk ki a célközönség: diákok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200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Sikeres, sikertelen tesztesetek</a:t>
            </a:r>
          </a:p>
          <a:p>
            <a:r>
              <a:rPr lang="hu-HU" dirty="0"/>
              <a:t>Normál beviteli adatokkal, extrém adatokkal</a:t>
            </a:r>
          </a:p>
          <a:p>
            <a:r>
              <a:rPr lang="hu-HU" dirty="0"/>
              <a:t>Karakter szám korlátozás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66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Simple</a:t>
            </a:r>
            <a:r>
              <a:rPr lang="hu-HU" dirty="0"/>
              <a:t> </a:t>
            </a:r>
            <a:r>
              <a:rPr lang="hu-HU" dirty="0" err="1"/>
              <a:t>payyel</a:t>
            </a:r>
            <a:r>
              <a:rPr lang="hu-HU" dirty="0"/>
              <a:t> online fizetés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>
                <a:latin typeface="Bahnschrift Light" panose="020B0502040204020203" pitchFamily="34" charset="0"/>
              </a:rPr>
              <a:t>Értesítés küldés?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6162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2026. 04. 15.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randfetch.com/laravel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mmons.wikimedia.org/wiki/File:Vue.js_Logo_2.sv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205696" y="620698"/>
            <a:ext cx="9972814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497250" y="3815803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970484" y="3088822"/>
            <a:ext cx="4408446" cy="602195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3377109" y="3691017"/>
            <a:ext cx="551924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958534" y="2127283"/>
            <a:ext cx="4539989" cy="887837"/>
          </a:xfrm>
          <a:prstGeom prst="rect">
            <a:avLst/>
          </a:prstGeom>
        </p:spPr>
      </p:pic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487E420D-FD3E-4FFE-9290-702177B8E36A}"/>
              </a:ext>
            </a:extLst>
          </p:cNvPr>
          <p:cNvGrpSpPr/>
          <p:nvPr/>
        </p:nvGrpSpPr>
        <p:grpSpPr>
          <a:xfrm>
            <a:off x="9596464" y="2758398"/>
            <a:ext cx="1765763" cy="3257809"/>
            <a:chOff x="2402332" y="2980638"/>
            <a:chExt cx="1765763" cy="3257809"/>
          </a:xfrm>
        </p:grpSpPr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C2796FC6-7561-475F-A3A9-51D3C1BCC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332" y="2980638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Alcím 2">
              <a:extLst>
                <a:ext uri="{FF2B5EF4-FFF2-40B4-BE49-F238E27FC236}">
                  <a16:creationId xmlns:a16="http://schemas.microsoft.com/office/drawing/2014/main" id="{B5F845A1-2594-4A0E-95CC-A6F4492F82D2}"/>
                </a:ext>
              </a:extLst>
            </p:cNvPr>
            <p:cNvSpPr txBox="1">
              <a:spLocks/>
            </p:cNvSpPr>
            <p:nvPr/>
          </p:nvSpPr>
          <p:spPr>
            <a:xfrm>
              <a:off x="2446713" y="5689391"/>
              <a:ext cx="1677000" cy="54905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Atkári Ariella</a:t>
              </a:r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B0DEBC2A-E922-4F8A-ACD9-577C5D4BF10D}"/>
              </a:ext>
            </a:extLst>
          </p:cNvPr>
          <p:cNvGrpSpPr/>
          <p:nvPr/>
        </p:nvGrpSpPr>
        <p:grpSpPr>
          <a:xfrm>
            <a:off x="654211" y="2758397"/>
            <a:ext cx="1927904" cy="3257810"/>
            <a:chOff x="452879" y="2758397"/>
            <a:chExt cx="1927904" cy="3257810"/>
          </a:xfrm>
        </p:grpSpPr>
        <p:sp>
          <p:nvSpPr>
            <p:cNvPr id="5" name="Alcím 2">
              <a:extLst>
                <a:ext uri="{FF2B5EF4-FFF2-40B4-BE49-F238E27FC236}">
                  <a16:creationId xmlns:a16="http://schemas.microsoft.com/office/drawing/2014/main" id="{3E0FCC81-0923-43B1-9ACC-080EBD94427F}"/>
                </a:ext>
              </a:extLst>
            </p:cNvPr>
            <p:cNvSpPr txBox="1">
              <a:spLocks/>
            </p:cNvSpPr>
            <p:nvPr/>
          </p:nvSpPr>
          <p:spPr>
            <a:xfrm>
              <a:off x="452879" y="5467150"/>
              <a:ext cx="1927904" cy="54905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Farkas Dominik</a:t>
              </a:r>
            </a:p>
          </p:txBody>
        </p:sp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880ED913-F103-4E93-AA63-76875300B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3950" y="2758397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1004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43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026" name="Picture 2" descr="Vue.js Development Services Company India | Hire Vue.js Developers">
            <a:extLst>
              <a:ext uri="{FF2B5EF4-FFF2-40B4-BE49-F238E27FC236}">
                <a16:creationId xmlns:a16="http://schemas.microsoft.com/office/drawing/2014/main" id="{3E23C230-9766-429F-8A50-4660232F1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1100" y="2184425"/>
            <a:ext cx="1652756" cy="13431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AutoShape 4" descr="Getting Started with Laravel: Your First Application - DEV Community">
            <a:extLst>
              <a:ext uri="{FF2B5EF4-FFF2-40B4-BE49-F238E27FC236}">
                <a16:creationId xmlns:a16="http://schemas.microsoft.com/office/drawing/2014/main" id="{D45CB231-1DAE-4C06-AE96-88453F4481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5" name="AutoShape 6" descr="Getting Started with Laravel: Your First Application - DEV Community">
            <a:extLst>
              <a:ext uri="{FF2B5EF4-FFF2-40B4-BE49-F238E27FC236}">
                <a16:creationId xmlns:a16="http://schemas.microsoft.com/office/drawing/2014/main" id="{07652F2B-91E0-4250-8E81-FE2815562D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6" name="AutoShape 8" descr="Getting Started with Laravel: Your First Application - DEV Community">
            <a:extLst>
              <a:ext uri="{FF2B5EF4-FFF2-40B4-BE49-F238E27FC236}">
                <a16:creationId xmlns:a16="http://schemas.microsoft.com/office/drawing/2014/main" id="{5268C84A-9061-472C-ABBB-3193244F5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C1C3B26-5DD4-43D9-869C-B4C8E5FB1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452" y="2130643"/>
            <a:ext cx="3454183" cy="14507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D83939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34" name="Picture 10" descr="MySQL Database Consulting, Deployment &amp; Managed Support Services in US &amp;  India">
            <a:extLst>
              <a:ext uri="{FF2B5EF4-FFF2-40B4-BE49-F238E27FC236}">
                <a16:creationId xmlns:a16="http://schemas.microsoft.com/office/drawing/2014/main" id="{2F767706-BF12-4514-A4B2-8A9D0C2C45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3" b="22638"/>
          <a:stretch/>
        </p:blipFill>
        <p:spPr bwMode="auto">
          <a:xfrm>
            <a:off x="6719681" y="3977001"/>
            <a:ext cx="3643907" cy="20092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EFEFE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Backend tesztelés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Frontend tesztelés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0" r="45001" b="7755"/>
          <a:stretch/>
        </p:blipFill>
        <p:spPr>
          <a:xfrm>
            <a:off x="5138832" y="1081088"/>
            <a:ext cx="2552700" cy="44577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E093BAF9-E1C7-48F2-A365-024A0F3785E2}"/>
              </a:ext>
            </a:extLst>
          </p:cNvPr>
          <p:cNvGrpSpPr/>
          <p:nvPr/>
        </p:nvGrpSpPr>
        <p:grpSpPr>
          <a:xfrm>
            <a:off x="8448864" y="2530640"/>
            <a:ext cx="2552700" cy="2181529"/>
            <a:chOff x="8448864" y="2530640"/>
            <a:chExt cx="2552700" cy="2181529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A710C213-02AB-4860-89DB-F1799A2881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647"/>
            <a:stretch/>
          </p:blipFill>
          <p:spPr>
            <a:xfrm>
              <a:off x="8448864" y="2530640"/>
              <a:ext cx="2552700" cy="218152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F4ADEC0-D514-46E1-84AF-439B6AB366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281" t="91600" r="66759" b="4658"/>
            <a:stretch/>
          </p:blipFill>
          <p:spPr>
            <a:xfrm>
              <a:off x="8810814" y="4471663"/>
              <a:ext cx="1181100" cy="193206"/>
            </a:xfrm>
            <a:prstGeom prst="rect">
              <a:avLst/>
            </a:prstGeom>
            <a:ln w="76200" cap="sq">
              <a:noFill/>
              <a:miter lim="800000"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17 tábla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1" name="Kép 10">
            <a:extLst>
              <a:ext uri="{FF2B5EF4-FFF2-40B4-BE49-F238E27FC236}">
                <a16:creationId xmlns:a16="http://schemas.microsoft.com/office/drawing/2014/main" id="{F645605F-0923-431D-B3D3-AE4E34E70E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382" t="5217" r="15002" b="8258"/>
          <a:stretch/>
        </p:blipFill>
        <p:spPr>
          <a:xfrm>
            <a:off x="5350598" y="2034567"/>
            <a:ext cx="5359652" cy="390010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29DD070-F8A6-4106-980B-6E838D0BF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3368" y="2847292"/>
            <a:ext cx="2541385" cy="297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Reszponzívitás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Mobil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Tablet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Laptop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20" name="Kép 19">
            <a:extLst>
              <a:ext uri="{FF2B5EF4-FFF2-40B4-BE49-F238E27FC236}">
                <a16:creationId xmlns:a16="http://schemas.microsoft.com/office/drawing/2014/main" id="{E38BECC2-FD69-4C75-AD91-F495870F61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03" t="-2222" r="4941" b="12667"/>
          <a:stretch/>
        </p:blipFill>
        <p:spPr>
          <a:xfrm>
            <a:off x="4321137" y="349786"/>
            <a:ext cx="2908888" cy="574165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E80C8FCB-11FC-40D3-98C9-DEB5FC6623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96" t="1852" r="3347" b="14815"/>
          <a:stretch/>
        </p:blipFill>
        <p:spPr>
          <a:xfrm>
            <a:off x="7710587" y="1121384"/>
            <a:ext cx="2908888" cy="538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568" b="49410"/>
          <a:stretch/>
        </p:blipFill>
        <p:spPr>
          <a:xfrm>
            <a:off x="2227708" y="3310150"/>
            <a:ext cx="2645282" cy="244826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C0EA3B83-8F57-4D5D-B3CB-8E7AE8FF75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468" t="7300" r="26371" b="-353"/>
          <a:stretch/>
        </p:blipFill>
        <p:spPr>
          <a:xfrm>
            <a:off x="7562850" y="3552296"/>
            <a:ext cx="2247900" cy="114352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066800" y="1737360"/>
            <a:ext cx="997743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58555" r="67247"/>
          <a:stretch/>
        </p:blipFill>
        <p:spPr>
          <a:xfrm>
            <a:off x="10446874" y="1011980"/>
            <a:ext cx="1478572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32" b="36381"/>
          <a:stretch/>
        </p:blipFill>
        <p:spPr>
          <a:xfrm>
            <a:off x="10355433" y="253737"/>
            <a:ext cx="1541291" cy="851162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2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4400" b="1" dirty="0">
                <a:latin typeface="Bahnschrift SemiBold" panose="020B0502040204020203" pitchFamily="34" charset="0"/>
              </a:rPr>
              <a:t>Források</a:t>
            </a:r>
          </a:p>
        </p:txBody>
      </p:sp>
      <p:sp>
        <p:nvSpPr>
          <p:cNvPr id="14" name="Cím 1">
            <a:extLst>
              <a:ext uri="{FF2B5EF4-FFF2-40B4-BE49-F238E27FC236}">
                <a16:creationId xmlns:a16="http://schemas.microsoft.com/office/drawing/2014/main" id="{27767F96-4F23-4735-A23B-07F09E00E316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hu-HU" dirty="0"/>
          </a:p>
        </p:txBody>
      </p:sp>
      <p:sp>
        <p:nvSpPr>
          <p:cNvPr id="15" name="Tartalom helye 2">
            <a:extLst>
              <a:ext uri="{FF2B5EF4-FFF2-40B4-BE49-F238E27FC236}">
                <a16:creationId xmlns:a16="http://schemas.microsoft.com/office/drawing/2014/main" id="{D461F7F4-1A2F-43DA-861A-D185CFE10688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Képek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https://brandfetch.com/laravel.com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https://commons.wikimedia.org/wiki/File:Vue.js_Logo_2.svg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u="sng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</a:rPr>
              <a:t>https://uxwing.com/mysql-icon/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6006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361</Words>
  <Application>Microsoft Office PowerPoint</Application>
  <PresentationFormat>Szélesvásznú</PresentationFormat>
  <Paragraphs>140</Paragraphs>
  <Slides>13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20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Reszponzívitás</vt:lpstr>
      <vt:lpstr>Tesztelés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109</cp:revision>
  <dcterms:created xsi:type="dcterms:W3CDTF">2026-03-03T06:30:40Z</dcterms:created>
  <dcterms:modified xsi:type="dcterms:W3CDTF">2026-04-15T12:04:06Z</dcterms:modified>
</cp:coreProperties>
</file>