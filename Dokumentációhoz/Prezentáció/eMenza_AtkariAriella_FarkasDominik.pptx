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88" r:id="rId2"/>
    <p:sldId id="289" r:id="rId3"/>
    <p:sldId id="276" r:id="rId4"/>
    <p:sldId id="279" r:id="rId5"/>
    <p:sldId id="259" r:id="rId6"/>
    <p:sldId id="260" r:id="rId7"/>
    <p:sldId id="274" r:id="rId8"/>
    <p:sldId id="285" r:id="rId9"/>
    <p:sldId id="268" r:id="rId10"/>
    <p:sldId id="266" r:id="rId11"/>
    <p:sldId id="269" r:id="rId12"/>
    <p:sldId id="272" r:id="rId13"/>
    <p:sldId id="282" r:id="rId14"/>
    <p:sldId id="283" r:id="rId15"/>
    <p:sldId id="287" r:id="rId16"/>
    <p:sldId id="284" r:id="rId17"/>
    <p:sldId id="29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48312"/>
    <a:srgbClr val="EFEFEF"/>
    <a:srgbClr val="FFFFFF"/>
    <a:srgbClr val="D83939"/>
    <a:srgbClr val="FDF7E9"/>
    <a:srgbClr val="BD582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6" autoAdjust="0"/>
  </p:normalViewPr>
  <p:slideViewPr>
    <p:cSldViewPr snapToGrid="0">
      <p:cViewPr>
        <p:scale>
          <a:sx n="75" d="100"/>
          <a:sy n="75" d="100"/>
        </p:scale>
        <p:origin x="1104" y="7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DB98DA-128E-4364-BF98-E5A8E296E4F2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u-HU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73375F-E6FE-4F6E-96C6-6B6BE7EEDE08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55202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Bemutatkozás</a:t>
            </a:r>
          </a:p>
          <a:p>
            <a:r>
              <a:rPr lang="hu-HU" dirty="0"/>
              <a:t>Webalapú rendszer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88789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Bemutatkozás</a:t>
            </a:r>
          </a:p>
          <a:p>
            <a:r>
              <a:rPr lang="hu-HU" dirty="0"/>
              <a:t>Webalapú rendszer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00960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KONYHA KÉRÉSÉRE: A menüből cukormentes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95235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Githubon</a:t>
            </a:r>
            <a:endParaRPr lang="hu-HU" dirty="0"/>
          </a:p>
          <a:p>
            <a:r>
              <a:rPr lang="hu-HU" dirty="0"/>
              <a:t>Feladatok megosztása – vegyesen frontend, backend -&gt; feladatonként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7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18082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9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499641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Elsődleges kulcsok, idegen kulcsok használata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10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135462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200" dirty="0"/>
              <a:t>Dinamikus igazodás a kijelzőhöz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200" dirty="0"/>
              <a:t>Optimalizált telefon képernyőhöz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4570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Sikeres, sikertelen tesztesetek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12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6516679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 err="1"/>
              <a:t>Simple</a:t>
            </a:r>
            <a:r>
              <a:rPr lang="hu-HU" dirty="0"/>
              <a:t> </a:t>
            </a:r>
            <a:r>
              <a:rPr lang="hu-HU" dirty="0" err="1"/>
              <a:t>payyel</a:t>
            </a:r>
            <a:r>
              <a:rPr lang="hu-HU" dirty="0"/>
              <a:t> online fizetés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u-HU" sz="1200" dirty="0">
                <a:latin typeface="Bahnschrift Light" panose="020B0502040204020203" pitchFamily="34" charset="0"/>
              </a:rPr>
              <a:t>Értesítés küldés?</a:t>
            </a:r>
          </a:p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13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261627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73375F-E6FE-4F6E-96C6-6B6BE7EEDE08}" type="slidenum">
              <a:rPr lang="hu-HU" smtClean="0"/>
              <a:t>15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513806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398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3314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zakaszfejlé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0458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09632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5591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32223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99496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8800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21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064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17898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hu-HU" dirty="0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hu-HU" dirty="0"/>
              <a:t>Mintaszöveg szerkesztése</a:t>
            </a:r>
          </a:p>
          <a:p>
            <a:pPr lvl="1"/>
            <a:r>
              <a:rPr lang="hu-HU" dirty="0"/>
              <a:t>Második szint</a:t>
            </a:r>
          </a:p>
          <a:p>
            <a:pPr lvl="2"/>
            <a:r>
              <a:rPr lang="hu-HU" dirty="0"/>
              <a:t>Harmadik szint</a:t>
            </a:r>
          </a:p>
          <a:p>
            <a:pPr lvl="3"/>
            <a:r>
              <a:rPr lang="hu-HU" dirty="0"/>
              <a:t>Negyedik szint</a:t>
            </a:r>
          </a:p>
          <a:p>
            <a:pPr lvl="4"/>
            <a:r>
              <a:rPr lang="hu-HU" dirty="0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9C1AE7B-DA1F-453C-8148-553EEBF678EC}" type="datetimeFigureOut">
              <a:rPr lang="hu-HU" smtClean="0"/>
              <a:t>2026. 03. 27.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5C41921-6C50-46E3-8904-5D32421A85EB}" type="slidenum">
              <a:rPr lang="hu-HU" smtClean="0"/>
              <a:t>‹#›</a:t>
            </a:fld>
            <a:endParaRPr lang="hu-H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1583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Bahnschrift Light" panose="020B0502040204020203" pitchFamily="34" charset="0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205696" y="620698"/>
            <a:ext cx="9972814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497250" y="3815803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970484" y="3088822"/>
            <a:ext cx="4408446" cy="602195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3377109" y="3691017"/>
            <a:ext cx="5519241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958534" y="2127283"/>
            <a:ext cx="4539989" cy="887837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805230" y="6455312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solidFill>
                  <a:schemeClr val="bg1"/>
                </a:solidFill>
                <a:latin typeface="Bahnschrift Light" panose="020B0502040204020203" pitchFamily="34" charset="0"/>
              </a:rPr>
              <a:t>2026. 03. 03</a:t>
            </a:r>
          </a:p>
        </p:txBody>
      </p:sp>
      <p:grpSp>
        <p:nvGrpSpPr>
          <p:cNvPr id="15" name="Csoportba foglalás 14">
            <a:extLst>
              <a:ext uri="{FF2B5EF4-FFF2-40B4-BE49-F238E27FC236}">
                <a16:creationId xmlns:a16="http://schemas.microsoft.com/office/drawing/2014/main" id="{487E420D-FD3E-4FFE-9290-702177B8E36A}"/>
              </a:ext>
            </a:extLst>
          </p:cNvPr>
          <p:cNvGrpSpPr/>
          <p:nvPr/>
        </p:nvGrpSpPr>
        <p:grpSpPr>
          <a:xfrm>
            <a:off x="9596464" y="2758398"/>
            <a:ext cx="1765763" cy="3257809"/>
            <a:chOff x="2402332" y="2980638"/>
            <a:chExt cx="1765763" cy="3257809"/>
          </a:xfrm>
        </p:grpSpPr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C2796FC6-7561-475F-A3A9-51D3C1BCC8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02332" y="2980638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prstDash val="solid"/>
              <a:miter lim="800000"/>
            </a:ln>
            <a:effectLst>
              <a:outerShdw blurRad="50800" dist="38100" dir="2700000" algn="tl" rotWithShape="0">
                <a:srgbClr val="000000">
                  <a:alpha val="43000"/>
                </a:srgbClr>
              </a:outerShdw>
            </a:effectLst>
          </p:spPr>
        </p:pic>
        <p:sp>
          <p:nvSpPr>
            <p:cNvPr id="13" name="Alcím 2">
              <a:extLst>
                <a:ext uri="{FF2B5EF4-FFF2-40B4-BE49-F238E27FC236}">
                  <a16:creationId xmlns:a16="http://schemas.microsoft.com/office/drawing/2014/main" id="{B5F845A1-2594-4A0E-95CC-A6F4492F82D2}"/>
                </a:ext>
              </a:extLst>
            </p:cNvPr>
            <p:cNvSpPr txBox="1">
              <a:spLocks/>
            </p:cNvSpPr>
            <p:nvPr/>
          </p:nvSpPr>
          <p:spPr>
            <a:xfrm>
              <a:off x="2446713" y="5689391"/>
              <a:ext cx="1677000" cy="549056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Atkári Ariella</a:t>
              </a:r>
            </a:p>
          </p:txBody>
        </p:sp>
      </p:grpSp>
      <p:grpSp>
        <p:nvGrpSpPr>
          <p:cNvPr id="16" name="Csoportba foglalás 15">
            <a:extLst>
              <a:ext uri="{FF2B5EF4-FFF2-40B4-BE49-F238E27FC236}">
                <a16:creationId xmlns:a16="http://schemas.microsoft.com/office/drawing/2014/main" id="{B0DEBC2A-E922-4F8A-ACD9-577C5D4BF10D}"/>
              </a:ext>
            </a:extLst>
          </p:cNvPr>
          <p:cNvGrpSpPr/>
          <p:nvPr/>
        </p:nvGrpSpPr>
        <p:grpSpPr>
          <a:xfrm>
            <a:off x="654211" y="2758397"/>
            <a:ext cx="1927904" cy="3257810"/>
            <a:chOff x="452879" y="2758397"/>
            <a:chExt cx="1927904" cy="3257810"/>
          </a:xfrm>
        </p:grpSpPr>
        <p:sp>
          <p:nvSpPr>
            <p:cNvPr id="5" name="Alcím 2">
              <a:extLst>
                <a:ext uri="{FF2B5EF4-FFF2-40B4-BE49-F238E27FC236}">
                  <a16:creationId xmlns:a16="http://schemas.microsoft.com/office/drawing/2014/main" id="{3E0FCC81-0923-43B1-9ACC-080EBD94427F}"/>
                </a:ext>
              </a:extLst>
            </p:cNvPr>
            <p:cNvSpPr txBox="1">
              <a:spLocks/>
            </p:cNvSpPr>
            <p:nvPr/>
          </p:nvSpPr>
          <p:spPr>
            <a:xfrm>
              <a:off x="452879" y="5467150"/>
              <a:ext cx="1927904" cy="549057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200"/>
                </a:spcBef>
                <a:spcAft>
                  <a:spcPts val="200"/>
                </a:spcAft>
                <a:buClr>
                  <a:schemeClr val="accent1"/>
                </a:buClr>
                <a:buSzPct val="100000"/>
                <a:buFont typeface="Calibri" panose="020F0502020204030204" pitchFamily="34" charset="0"/>
                <a:buNone/>
                <a:defRPr sz="2400" kern="1200" cap="all" spc="200" baseline="0">
                  <a:solidFill>
                    <a:schemeClr val="tx2"/>
                  </a:solidFill>
                  <a:latin typeface="+mj-lt"/>
                  <a:ea typeface="+mn-ea"/>
                  <a:cs typeface="+mn-cs"/>
                </a:defRPr>
              </a:lvl1pPr>
              <a:lvl2pPr marL="457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2pPr>
              <a:lvl3pPr marL="914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4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3pPr>
              <a:lvl4pPr marL="1371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4pPr>
              <a:lvl5pPr marL="18288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5pPr>
              <a:lvl6pPr marL="22860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6pPr>
              <a:lvl7pPr marL="27432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7pPr>
              <a:lvl8pPr marL="32004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8pPr>
              <a:lvl9pPr marL="3657600" indent="0" algn="ctr" defTabSz="914400" rtl="0" eaLnBrk="1" latinLnBrk="0" hangingPunct="1">
                <a:lnSpc>
                  <a:spcPct val="90000"/>
                </a:lnSpc>
                <a:spcBef>
                  <a:spcPts val="200"/>
                </a:spcBef>
                <a:spcAft>
                  <a:spcPts val="400"/>
                </a:spcAft>
                <a:buClr>
                  <a:schemeClr val="accent1"/>
                </a:buClr>
                <a:buFont typeface="Calibri" pitchFamily="34" charset="0"/>
                <a:buNone/>
                <a:defRPr sz="2000" kern="120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ct val="100000"/>
                </a:lnSpc>
              </a:pPr>
              <a:r>
                <a:rPr lang="hu-HU" sz="1800" cap="none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Bahnschrift Light" panose="020B0502040204020203" pitchFamily="34" charset="0"/>
                </a:rPr>
                <a:t>Farkas Dominik</a:t>
              </a:r>
            </a:p>
          </p:txBody>
        </p:sp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880ED913-F103-4E93-AA63-76875300B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3950" y="2758397"/>
              <a:ext cx="1765763" cy="2615573"/>
            </a:xfrm>
            <a:prstGeom prst="rect">
              <a:avLst/>
            </a:prstGeom>
            <a:ln w="38100" cap="sq">
              <a:solidFill>
                <a:srgbClr val="E48312"/>
              </a:solidFill>
              <a:miter lim="800000"/>
            </a:ln>
            <a:effectLst>
              <a:outerShdw blurRad="57150" dist="50800" dir="2700000" algn="tl" rotWithShape="0">
                <a:srgbClr val="000000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710044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opció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3432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320753" y="2904573"/>
            <a:ext cx="9760046" cy="200699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5400" b="1" dirty="0">
                <a:latin typeface="Bahnschrift SemiBold" panose="020B0502040204020203" pitchFamily="34" charset="0"/>
              </a:rPr>
              <a:t>Iskolai étkezéskezelő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2286F2D-71DE-4954-8C64-8E9991C98150}"/>
              </a:ext>
            </a:extLst>
          </p:cNvPr>
          <p:cNvSpPr txBox="1">
            <a:spLocks/>
          </p:cNvSpPr>
          <p:nvPr/>
        </p:nvSpPr>
        <p:spPr>
          <a:xfrm>
            <a:off x="3598026" y="3785841"/>
            <a:ext cx="4995949" cy="57150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hu-HU" i="1" cap="all" spc="100" dirty="0">
                <a:solidFill>
                  <a:srgbClr val="BD582C"/>
                </a:solidFill>
                <a:uFill>
                  <a:solidFill>
                    <a:srgbClr val="BD582C"/>
                  </a:solidFill>
                </a:uFill>
                <a:latin typeface="+mj-lt"/>
              </a:rPr>
              <a:t>Vizsgaremek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/>
          <a:stretch/>
        </p:blipFill>
        <p:spPr>
          <a:xfrm>
            <a:off x="3750655" y="1673209"/>
            <a:ext cx="4714591" cy="644014"/>
          </a:xfrm>
          <a:prstGeom prst="rect">
            <a:avLst/>
          </a:prstGeom>
        </p:spPr>
      </p:pic>
      <p:sp>
        <p:nvSpPr>
          <p:cNvPr id="5" name="Alcím 2">
            <a:extLst>
              <a:ext uri="{FF2B5EF4-FFF2-40B4-BE49-F238E27FC236}">
                <a16:creationId xmlns:a16="http://schemas.microsoft.com/office/drawing/2014/main" id="{3E0FCC81-0923-43B1-9ACC-080EBD94427F}"/>
              </a:ext>
            </a:extLst>
          </p:cNvPr>
          <p:cNvSpPr txBox="1">
            <a:spLocks/>
          </p:cNvSpPr>
          <p:nvPr/>
        </p:nvSpPr>
        <p:spPr>
          <a:xfrm>
            <a:off x="127233" y="5659169"/>
            <a:ext cx="5968766" cy="10503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Készítették: Atkári Ariella</a:t>
            </a:r>
            <a:br>
              <a:rPr lang="hu-HU" sz="1800" cap="none" spc="0" dirty="0">
                <a:latin typeface="Bahnschrift Light" panose="020B0502040204020203" pitchFamily="34" charset="0"/>
              </a:rPr>
            </a:br>
            <a:r>
              <a:rPr lang="hu-HU" sz="1800" cap="none" spc="0" dirty="0">
                <a:latin typeface="Bahnschrift Light" panose="020B0502040204020203" pitchFamily="34" charset="0"/>
              </a:rPr>
              <a:t>	      Farkas Dominik</a:t>
            </a:r>
          </a:p>
        </p:txBody>
      </p:sp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2131264" y="2305176"/>
            <a:ext cx="79533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-2984" b="38896"/>
          <a:stretch/>
        </p:blipFill>
        <p:spPr>
          <a:xfrm>
            <a:off x="3738706" y="711670"/>
            <a:ext cx="4855269" cy="949493"/>
          </a:xfrm>
          <a:prstGeom prst="rect">
            <a:avLst/>
          </a:prstGeom>
        </p:spPr>
      </p:pic>
      <p:sp>
        <p:nvSpPr>
          <p:cNvPr id="11" name="Alcím 2">
            <a:extLst>
              <a:ext uri="{FF2B5EF4-FFF2-40B4-BE49-F238E27FC236}">
                <a16:creationId xmlns:a16="http://schemas.microsoft.com/office/drawing/2014/main" id="{7D26B0E8-7A60-4B80-8AF7-628A519872D6}"/>
              </a:ext>
            </a:extLst>
          </p:cNvPr>
          <p:cNvSpPr txBox="1">
            <a:spLocks/>
          </p:cNvSpPr>
          <p:nvPr/>
        </p:nvSpPr>
        <p:spPr>
          <a:xfrm>
            <a:off x="10563224" y="5883809"/>
            <a:ext cx="1628776" cy="402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hu-HU" sz="1800" cap="none" spc="0" dirty="0">
                <a:latin typeface="Bahnschrift Light" panose="020B0502040204020203" pitchFamily="34" charset="0"/>
              </a:rPr>
              <a:t>2026. 03. 03</a:t>
            </a:r>
          </a:p>
        </p:txBody>
      </p:sp>
    </p:spTree>
    <p:extLst>
      <p:ext uri="{BB962C8B-B14F-4D97-AF65-F5344CB8AC3E}">
        <p14:creationId xmlns:p14="http://schemas.microsoft.com/office/powerpoint/2010/main" val="3133121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8830B2-00D6-4BD2-BE11-19215C420251}"/>
              </a:ext>
            </a:extLst>
          </p:cNvPr>
          <p:cNvSpPr txBox="1">
            <a:spLocks/>
          </p:cNvSpPr>
          <p:nvPr/>
        </p:nvSpPr>
        <p:spPr>
          <a:xfrm>
            <a:off x="1098000" y="288000"/>
            <a:ext cx="9760046" cy="200699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A projekt bemutatása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912835F-A62C-4B0D-B733-74106EBFDA2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cxnSp>
        <p:nvCxnSpPr>
          <p:cNvPr id="9" name="Egyenes összekötő 8">
            <a:extLst>
              <a:ext uri="{FF2B5EF4-FFF2-40B4-BE49-F238E27FC236}">
                <a16:creationId xmlns:a16="http://schemas.microsoft.com/office/drawing/2014/main" id="{670AB60B-B385-4E46-A012-AD0038CF5F38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822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Kép 9">
            <a:extLst>
              <a:ext uri="{FF2B5EF4-FFF2-40B4-BE49-F238E27FC236}">
                <a16:creationId xmlns:a16="http://schemas.microsoft.com/office/drawing/2014/main" id="{CB9406C6-CF11-47E5-AEFA-0BA584F8F8D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6" name="Tartalom helye 2">
            <a:extLst>
              <a:ext uri="{FF2B5EF4-FFF2-40B4-BE49-F238E27FC236}">
                <a16:creationId xmlns:a16="http://schemas.microsoft.com/office/drawing/2014/main" id="{FF047810-2018-4C33-B261-D1F6226BE9D7}"/>
              </a:ext>
            </a:extLst>
          </p:cNvPr>
          <p:cNvSpPr txBox="1">
            <a:spLocks/>
          </p:cNvSpPr>
          <p:nvPr/>
        </p:nvSpPr>
        <p:spPr>
          <a:xfrm>
            <a:off x="1097280" y="1874067"/>
            <a:ext cx="10058400" cy="4330005"/>
          </a:xfrm>
          <a:prstGeom prst="rect">
            <a:avLst/>
          </a:prstGeom>
        </p:spPr>
        <p:txBody>
          <a:bodyPr>
            <a:normAutofit/>
          </a:bodyPr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Probléma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Papíron történő étkezés rendelés, számlázás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Lemondási nehézségek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Nincs menü választási lehetőség előzetesen</a:t>
            </a:r>
          </a:p>
          <a:p>
            <a:endParaRPr lang="hu-HU" dirty="0">
              <a:latin typeface="Bahnschrift Light" panose="020B0502040204020203" pitchFamily="34" charset="0"/>
            </a:endParaRPr>
          </a:p>
          <a:p>
            <a:pPr>
              <a:lnSpc>
                <a:spcPct val="150000"/>
              </a:lnSpc>
            </a:pPr>
            <a:r>
              <a:rPr lang="hu-HU" sz="2400" dirty="0">
                <a:solidFill>
                  <a:srgbClr val="BD582C"/>
                </a:solidFill>
                <a:latin typeface="Bahnschrift Light" panose="020B0502040204020203" pitchFamily="34" charset="0"/>
              </a:rPr>
              <a:t>Megoldás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dirty="0">
                <a:latin typeface="Bahnschrift Light" panose="020B0502040204020203" pitchFamily="34" charset="0"/>
              </a:rPr>
              <a:t> </a:t>
            </a:r>
            <a:r>
              <a:rPr lang="hu-HU" sz="2000" dirty="0">
                <a:latin typeface="Bahnschrift Light" panose="020B0502040204020203" pitchFamily="34" charset="0"/>
              </a:rPr>
              <a:t>Online felület a rendeléshez, lemondáshoz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Előre kiválasztott menü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 Digitális számla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3070409B-88A6-42DC-B01A-8F8F5314A5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8575" y="2498937"/>
            <a:ext cx="3983647" cy="3169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9930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97330" y="1979084"/>
            <a:ext cx="10058400" cy="4023360"/>
          </a:xfrm>
        </p:spPr>
        <p:txBody>
          <a:bodyPr>
            <a:normAutofit/>
          </a:bodyPr>
          <a:lstStyle/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Regisztráció és bejelentkezés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Étlapkezelés (menü opciók)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Allergének, tápérték információk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Rendelési és lemondási rendszer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Ebédkártya leolvasás</a:t>
            </a:r>
          </a:p>
          <a:p>
            <a:pPr lvl="1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hu-HU" sz="2200" dirty="0"/>
              <a:t> Számla generálás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8A10CF98-B20C-498A-B49A-54F33274A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Funkciók</a:t>
            </a:r>
          </a:p>
        </p:txBody>
      </p:sp>
      <p:grpSp>
        <p:nvGrpSpPr>
          <p:cNvPr id="2" name="Csoportba foglalás 1">
            <a:extLst>
              <a:ext uri="{FF2B5EF4-FFF2-40B4-BE49-F238E27FC236}">
                <a16:creationId xmlns:a16="http://schemas.microsoft.com/office/drawing/2014/main" id="{C9E5FC47-ECCF-4F59-A408-5D6554FD905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3AAEA1F-2587-4749-9229-A2366B6B08A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E758450C-B61C-4683-B202-BD49BB80DC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6320224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5344" y="1889582"/>
            <a:ext cx="10058400" cy="4546013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Backend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endParaRPr lang="hu-HU" sz="20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Frontend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Vue.js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sz="2200" dirty="0"/>
              <a:t> </a:t>
            </a:r>
            <a:r>
              <a:rPr lang="hu-HU" sz="2200" dirty="0">
                <a:solidFill>
                  <a:srgbClr val="BD582C"/>
                </a:solidFill>
              </a:rPr>
              <a:t>Adatbázis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hu-HU" sz="2000" dirty="0"/>
              <a:t>Relációs adatbázis</a:t>
            </a:r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B1162F8F-91B4-45FA-8FCD-4AE20D403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Felépítése 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C6623B84-5C27-42DA-B75B-974214315DBD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DFFBB35C-87E4-4EE2-AD37-CCCBBCB6960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2" name="Kép 11">
              <a:extLst>
                <a:ext uri="{FF2B5EF4-FFF2-40B4-BE49-F238E27FC236}">
                  <a16:creationId xmlns:a16="http://schemas.microsoft.com/office/drawing/2014/main" id="{662AE874-06A5-4981-9568-5DE0DB5D353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1026" name="Picture 2" descr="Vue.js Development Services Company India | Hire Vue.js Developers">
            <a:extLst>
              <a:ext uri="{FF2B5EF4-FFF2-40B4-BE49-F238E27FC236}">
                <a16:creationId xmlns:a16="http://schemas.microsoft.com/office/drawing/2014/main" id="{3E23C230-9766-429F-8A50-4660232F17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11100" y="2184425"/>
            <a:ext cx="1652756" cy="13431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AutoShape 4" descr="Getting Started with Laravel: Your First Application - DEV Community">
            <a:extLst>
              <a:ext uri="{FF2B5EF4-FFF2-40B4-BE49-F238E27FC236}">
                <a16:creationId xmlns:a16="http://schemas.microsoft.com/office/drawing/2014/main" id="{D45CB231-1DAE-4C06-AE96-88453F44816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5" name="AutoShape 6" descr="Getting Started with Laravel: Your First Application - DEV Community">
            <a:extLst>
              <a:ext uri="{FF2B5EF4-FFF2-40B4-BE49-F238E27FC236}">
                <a16:creationId xmlns:a16="http://schemas.microsoft.com/office/drawing/2014/main" id="{07652F2B-91E0-4250-8E81-FE2815562D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sp>
        <p:nvSpPr>
          <p:cNvPr id="6" name="AutoShape 8" descr="Getting Started with Laravel: Your First Application - DEV Community">
            <a:extLst>
              <a:ext uri="{FF2B5EF4-FFF2-40B4-BE49-F238E27FC236}">
                <a16:creationId xmlns:a16="http://schemas.microsoft.com/office/drawing/2014/main" id="{5268C84A-9061-472C-ABBB-3193244F57F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248400" y="35814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EC1C3B26-5DD4-43D9-869C-B4C8E5FB16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7452" y="2130643"/>
            <a:ext cx="3454183" cy="14507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D83939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034" name="Picture 10" descr="MySQL Database Consulting, Deployment &amp; Managed Support Services in US &amp;  India">
            <a:extLst>
              <a:ext uri="{FF2B5EF4-FFF2-40B4-BE49-F238E27FC236}">
                <a16:creationId xmlns:a16="http://schemas.microsoft.com/office/drawing/2014/main" id="{2F767706-BF12-4514-A4B2-8A9D0C2C45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223" b="22638"/>
          <a:stretch/>
        </p:blipFill>
        <p:spPr bwMode="auto">
          <a:xfrm>
            <a:off x="6719681" y="3977001"/>
            <a:ext cx="3643907" cy="200921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EFEFE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13586348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Munkamegosztás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/>
              <a:t>Atkári Ariella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Adatbázis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Regisztráció, bejelentkezés</a:t>
            </a:r>
            <a:endParaRPr lang="hu-HU" sz="1600" dirty="0"/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Felehasználók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Ételek és hozzávalók kezelése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Rendelések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Farkas Dominik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Felhasználói felület tervezés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Hardver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Étlap kezelés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Menü készítő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hu-HU" dirty="0"/>
              <a:t> Számla generálás</a:t>
            </a:r>
          </a:p>
          <a:p>
            <a:endParaRPr lang="hu-HU" dirty="0"/>
          </a:p>
        </p:txBody>
      </p:sp>
      <p:cxnSp>
        <p:nvCxnSpPr>
          <p:cNvPr id="8" name="Egyenes összekötő 7">
            <a:extLst>
              <a:ext uri="{FF2B5EF4-FFF2-40B4-BE49-F238E27FC236}">
                <a16:creationId xmlns:a16="http://schemas.microsoft.com/office/drawing/2014/main" id="{722FCDE3-11D2-4077-A015-66490BCC018E}"/>
              </a:ext>
            </a:extLst>
          </p:cNvPr>
          <p:cNvCxnSpPr>
            <a:cxnSpLocks/>
          </p:cNvCxnSpPr>
          <p:nvPr/>
        </p:nvCxnSpPr>
        <p:spPr>
          <a:xfrm>
            <a:off x="1209600" y="1738800"/>
            <a:ext cx="994608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AD93B2E8-3D33-41C2-91A8-1FB692380CE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9966BA5A-A620-488E-8615-41FB1F1AE9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3B382D26-9076-4156-8E56-6C797943E13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3491346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Backend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Laravel</a:t>
            </a:r>
            <a:r>
              <a:rPr lang="hu-HU" sz="2000" dirty="0"/>
              <a:t> 12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Migrációk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Modellek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Kontrollerek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grpSp>
        <p:nvGrpSpPr>
          <p:cNvPr id="9" name="Csoportba foglalás 8">
            <a:extLst>
              <a:ext uri="{FF2B5EF4-FFF2-40B4-BE49-F238E27FC236}">
                <a16:creationId xmlns:a16="http://schemas.microsoft.com/office/drawing/2014/main" id="{9D1513B7-E14B-483F-9E1D-2F9ED7A62155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AF68DAD7-58FF-4254-A264-3393E8FB079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8F9A0D26-C9F9-4EBD-9287-1F6D4C562B7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D033E091-C059-4214-9245-46658923973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05" t="811" r="5434" b="-1"/>
          <a:stretch/>
        </p:blipFill>
        <p:spPr>
          <a:xfrm>
            <a:off x="5129212" y="1095237"/>
            <a:ext cx="2590800" cy="3807991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B37DBD32-194B-4032-B284-F858E2573DE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9" r="11023"/>
          <a:stretch/>
        </p:blipFill>
        <p:spPr>
          <a:xfrm>
            <a:off x="8617510" y="2051684"/>
            <a:ext cx="2657475" cy="3620005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709693890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zöveg helye 3">
            <a:extLst>
              <a:ext uri="{FF2B5EF4-FFF2-40B4-BE49-F238E27FC236}">
                <a16:creationId xmlns:a16="http://schemas.microsoft.com/office/drawing/2014/main" id="{5A03AB81-7D99-4C1A-BBE2-7274457508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/>
              <a:t>Vue.js 3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Axios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2000" dirty="0" err="1"/>
              <a:t>Bootstrap</a:t>
            </a:r>
            <a:endParaRPr lang="hu-HU" sz="20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hu-HU" sz="1800" dirty="0"/>
          </a:p>
        </p:txBody>
      </p:sp>
      <p:sp>
        <p:nvSpPr>
          <p:cNvPr id="6" name="Cím 1">
            <a:extLst>
              <a:ext uri="{FF2B5EF4-FFF2-40B4-BE49-F238E27FC236}">
                <a16:creationId xmlns:a16="http://schemas.microsoft.com/office/drawing/2014/main" id="{56BAE57D-1584-4B02-A4E9-FF150F428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Frontend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D03ACE2-F537-4DD5-8C31-221864AAC31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377" t="5910" r="45001" b="7755"/>
          <a:stretch/>
        </p:blipFill>
        <p:spPr>
          <a:xfrm>
            <a:off x="5138832" y="1081088"/>
            <a:ext cx="2552700" cy="4457700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grpSp>
        <p:nvGrpSpPr>
          <p:cNvPr id="8" name="Csoportba foglalás 7">
            <a:extLst>
              <a:ext uri="{FF2B5EF4-FFF2-40B4-BE49-F238E27FC236}">
                <a16:creationId xmlns:a16="http://schemas.microsoft.com/office/drawing/2014/main" id="{BD8D9C24-6A98-4359-8A9D-3FEAE8066B38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38EFA0F7-79F5-4841-B0B4-BA913AF4FF0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0" name="Kép 9">
              <a:extLst>
                <a:ext uri="{FF2B5EF4-FFF2-40B4-BE49-F238E27FC236}">
                  <a16:creationId xmlns:a16="http://schemas.microsoft.com/office/drawing/2014/main" id="{BDF66BF5-56DB-473D-A8D7-100866CBF00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E093BAF9-E1C7-48F2-A365-024A0F3785E2}"/>
              </a:ext>
            </a:extLst>
          </p:cNvPr>
          <p:cNvGrpSpPr/>
          <p:nvPr/>
        </p:nvGrpSpPr>
        <p:grpSpPr>
          <a:xfrm>
            <a:off x="8448864" y="2530640"/>
            <a:ext cx="2552700" cy="2181529"/>
            <a:chOff x="8448864" y="2530640"/>
            <a:chExt cx="2552700" cy="2181529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A710C213-02AB-4860-89DB-F1799A2881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5647"/>
            <a:stretch/>
          </p:blipFill>
          <p:spPr>
            <a:xfrm>
              <a:off x="8448864" y="2530640"/>
              <a:ext cx="2552700" cy="2181529"/>
            </a:xfrm>
            <a:prstGeom prst="rect">
              <a:avLst/>
            </a:prstGeom>
            <a:ln/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</p:pic>
        <p:pic>
          <p:nvPicPr>
            <p:cNvPr id="11" name="Kép 10">
              <a:extLst>
                <a:ext uri="{FF2B5EF4-FFF2-40B4-BE49-F238E27FC236}">
                  <a16:creationId xmlns:a16="http://schemas.microsoft.com/office/drawing/2014/main" id="{2F4ADEC0-D514-46E1-84AF-439B6AB366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281" t="91600" r="66759" b="4658"/>
            <a:stretch/>
          </p:blipFill>
          <p:spPr>
            <a:xfrm>
              <a:off x="8810814" y="4471663"/>
              <a:ext cx="1181100" cy="193206"/>
            </a:xfrm>
            <a:prstGeom prst="rect">
              <a:avLst/>
            </a:prstGeom>
            <a:ln w="76200" cap="sq">
              <a:noFill/>
              <a:miter lim="800000"/>
            </a:ln>
            <a:effectLst/>
          </p:spPr>
        </p:pic>
      </p:grpSp>
    </p:spTree>
    <p:extLst>
      <p:ext uri="{BB962C8B-B14F-4D97-AF65-F5344CB8AC3E}">
        <p14:creationId xmlns:p14="http://schemas.microsoft.com/office/powerpoint/2010/main" val="2480736290"/>
      </p:ext>
    </p:extLst>
  </p:cSld>
  <p:clrMapOvr>
    <a:masterClrMapping/>
  </p:clrMapOvr>
  <p:transition spd="slow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32758DB2-9D10-47A2-925C-F8A858558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43554" y="1911310"/>
            <a:ext cx="10058400" cy="402336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16 tábla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hu-HU" dirty="0"/>
              <a:t> Mintaadatok</a:t>
            </a:r>
          </a:p>
          <a:p>
            <a:endParaRPr lang="hu-HU" dirty="0"/>
          </a:p>
        </p:txBody>
      </p:sp>
      <p:sp>
        <p:nvSpPr>
          <p:cNvPr id="4" name="Cím 1">
            <a:extLst>
              <a:ext uri="{FF2B5EF4-FFF2-40B4-BE49-F238E27FC236}">
                <a16:creationId xmlns:a16="http://schemas.microsoft.com/office/drawing/2014/main" id="{1BABF97B-7E63-454C-9CDB-F386138F1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hu-HU" b="1" dirty="0">
                <a:latin typeface="Bahnschrift SemiBold" panose="020B0502040204020203" pitchFamily="34" charset="0"/>
              </a:rPr>
              <a:t>Adatbázis</a:t>
            </a:r>
          </a:p>
        </p:txBody>
      </p:sp>
      <p:grpSp>
        <p:nvGrpSpPr>
          <p:cNvPr id="7" name="Csoportba foglalás 6">
            <a:extLst>
              <a:ext uri="{FF2B5EF4-FFF2-40B4-BE49-F238E27FC236}">
                <a16:creationId xmlns:a16="http://schemas.microsoft.com/office/drawing/2014/main" id="{E802B2B8-8A4C-4A1C-A3DA-1085A7D5C7F6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2F280203-E1A7-4586-A915-B522FFD904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937401-8474-4C4C-8353-0BC085D4C9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5" name="Kép 4">
            <a:extLst>
              <a:ext uri="{FF2B5EF4-FFF2-40B4-BE49-F238E27FC236}">
                <a16:creationId xmlns:a16="http://schemas.microsoft.com/office/drawing/2014/main" id="{12F1D82F-A13E-4282-A8D3-3080BA7F58C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840" t="-648" r="28565" b="-478"/>
          <a:stretch/>
        </p:blipFill>
        <p:spPr>
          <a:xfrm>
            <a:off x="1600330" y="2929002"/>
            <a:ext cx="2435383" cy="3005668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F645605F-0923-431D-B3D3-AE4E34E70E6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2382" t="5217" r="15002" b="8258"/>
          <a:stretch/>
        </p:blipFill>
        <p:spPr>
          <a:xfrm>
            <a:off x="5350598" y="2034567"/>
            <a:ext cx="5359652" cy="3900103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438799303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5F2576-93E3-4E11-AD5A-5982C144E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22934"/>
            <a:ext cx="3200400" cy="2286000"/>
          </a:xfrm>
        </p:spPr>
        <p:txBody>
          <a:bodyPr/>
          <a:lstStyle/>
          <a:p>
            <a:r>
              <a:rPr lang="hu-HU" dirty="0" err="1">
                <a:latin typeface="Bahnschrift SemiBold" panose="020B0502040204020203" pitchFamily="34" charset="0"/>
              </a:rPr>
              <a:t>Reszponzivitás</a:t>
            </a:r>
            <a:endParaRPr lang="hu-HU" dirty="0">
              <a:latin typeface="Bahnschrift SemiBold" panose="020B0502040204020203" pitchFamily="34" charset="0"/>
            </a:endParaRP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E1483CC7-2FF0-4B57-872B-832994FD78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850" y="3259455"/>
            <a:ext cx="3562350" cy="3684270"/>
          </a:xfrm>
        </p:spPr>
        <p:txBody>
          <a:bodyPr>
            <a:norm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hu-HU" sz="1800" dirty="0" err="1"/>
              <a:t>Bootstrap</a:t>
            </a:r>
            <a:endParaRPr lang="hu-HU" sz="1800" dirty="0"/>
          </a:p>
        </p:txBody>
      </p:sp>
      <p:grpSp>
        <p:nvGrpSpPr>
          <p:cNvPr id="6" name="Csoportba foglalás 5">
            <a:extLst>
              <a:ext uri="{FF2B5EF4-FFF2-40B4-BE49-F238E27FC236}">
                <a16:creationId xmlns:a16="http://schemas.microsoft.com/office/drawing/2014/main" id="{3317F239-9F4A-4F2E-A3AC-DBDE360A6AF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7" name="Kép 6">
              <a:extLst>
                <a:ext uri="{FF2B5EF4-FFF2-40B4-BE49-F238E27FC236}">
                  <a16:creationId xmlns:a16="http://schemas.microsoft.com/office/drawing/2014/main" id="{C2CC19C8-CD10-42F5-9D72-C77B335B05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8" name="Kép 7">
              <a:extLst>
                <a:ext uri="{FF2B5EF4-FFF2-40B4-BE49-F238E27FC236}">
                  <a16:creationId xmlns:a16="http://schemas.microsoft.com/office/drawing/2014/main" id="{5AF4A5EB-86E0-4324-B31A-9A09255FD8E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0190695"/>
      </p:ext>
    </p:extLst>
  </p:cSld>
  <p:clrMapOvr>
    <a:masterClrMapping/>
  </p:clrMapOvr>
  <p:transition spd="slow">
    <p:cover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775652-02D3-4343-B0A8-5C16A252B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>
                <a:latin typeface="Bahnschrift SemiBold" panose="020B0502040204020203" pitchFamily="34" charset="0"/>
              </a:rPr>
              <a:t>Tesztelés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32DA0C3-2B61-4113-AD5E-5C0C7B4662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hu-HU" dirty="0" err="1"/>
              <a:t>BAckend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B6E21CF-8DD2-4C9D-94F2-3E42E0993C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573868"/>
            <a:ext cx="4937760" cy="3378200"/>
          </a:xfrm>
        </p:spPr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/>
              <a:t>Postman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8CF772AA-AADB-421B-9B9F-F9CBC37746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hu-HU" dirty="0"/>
              <a:t>frontend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9FA3B530-5977-4B61-B1B0-6F0B4C637821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lvl="1" algn="ctr">
              <a:buFont typeface="Arial" panose="020B0604020202020204" pitchFamily="34" charset="0"/>
              <a:buChar char="•"/>
            </a:pPr>
            <a:r>
              <a:rPr lang="hu-HU" dirty="0" err="1"/>
              <a:t>Selenium</a:t>
            </a:r>
            <a:r>
              <a:rPr lang="hu-HU" dirty="0"/>
              <a:t> </a:t>
            </a:r>
            <a:r>
              <a:rPr lang="hu-HU" dirty="0" err="1"/>
              <a:t>Library</a:t>
            </a:r>
            <a:r>
              <a:rPr lang="hu-HU" dirty="0"/>
              <a:t> – </a:t>
            </a:r>
            <a:r>
              <a:rPr lang="hu-HU" dirty="0" err="1"/>
              <a:t>Robotframework</a:t>
            </a:r>
            <a:endParaRPr lang="hu-HU" dirty="0"/>
          </a:p>
          <a:p>
            <a:pPr marL="201168" lvl="1" indent="0">
              <a:buNone/>
            </a:pPr>
            <a:endParaRPr lang="hu-HU" dirty="0"/>
          </a:p>
        </p:txBody>
      </p:sp>
      <p:grpSp>
        <p:nvGrpSpPr>
          <p:cNvPr id="12" name="Csoportba foglalás 11">
            <a:extLst>
              <a:ext uri="{FF2B5EF4-FFF2-40B4-BE49-F238E27FC236}">
                <a16:creationId xmlns:a16="http://schemas.microsoft.com/office/drawing/2014/main" id="{257008D6-FD12-4F82-9FAE-0E4266FC30CF}"/>
              </a:ext>
            </a:extLst>
          </p:cNvPr>
          <p:cNvGrpSpPr/>
          <p:nvPr/>
        </p:nvGrpSpPr>
        <p:grpSpPr>
          <a:xfrm>
            <a:off x="10565538" y="349786"/>
            <a:ext cx="1418895" cy="1258023"/>
            <a:chOff x="10565538" y="349786"/>
            <a:chExt cx="1418895" cy="1258023"/>
          </a:xfrm>
        </p:grpSpPr>
        <p:pic>
          <p:nvPicPr>
            <p:cNvPr id="13" name="Kép 12">
              <a:extLst>
                <a:ext uri="{FF2B5EF4-FFF2-40B4-BE49-F238E27FC236}">
                  <a16:creationId xmlns:a16="http://schemas.microsoft.com/office/drawing/2014/main" id="{146B191F-A718-4014-B337-0005E2B62BA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555" r="67375"/>
            <a:stretch/>
          </p:blipFill>
          <p:spPr>
            <a:xfrm>
              <a:off x="10619475" y="1036308"/>
              <a:ext cx="1364958" cy="571501"/>
            </a:xfrm>
            <a:prstGeom prst="rect">
              <a:avLst/>
            </a:prstGeom>
          </p:spPr>
        </p:pic>
        <p:pic>
          <p:nvPicPr>
            <p:cNvPr id="14" name="Kép 13">
              <a:extLst>
                <a:ext uri="{FF2B5EF4-FFF2-40B4-BE49-F238E27FC236}">
                  <a16:creationId xmlns:a16="http://schemas.microsoft.com/office/drawing/2014/main" id="{3C0678C3-DC3F-47F5-8610-DB4180EAD20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alphaModFix amt="5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61666" b="38896"/>
            <a:stretch/>
          </p:blipFill>
          <p:spPr>
            <a:xfrm>
              <a:off x="10565538" y="349786"/>
              <a:ext cx="1418895" cy="745451"/>
            </a:xfrm>
            <a:prstGeom prst="rect">
              <a:avLst/>
            </a:prstGeom>
          </p:spPr>
        </p:pic>
      </p:grpSp>
      <p:pic>
        <p:nvPicPr>
          <p:cNvPr id="8" name="Kép 7">
            <a:extLst>
              <a:ext uri="{FF2B5EF4-FFF2-40B4-BE49-F238E27FC236}">
                <a16:creationId xmlns:a16="http://schemas.microsoft.com/office/drawing/2014/main" id="{65D09F99-D0F3-443A-AAEC-7BE7F46CE9B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1" r="2568" b="49410"/>
          <a:stretch/>
        </p:blipFill>
        <p:spPr>
          <a:xfrm>
            <a:off x="2227708" y="3310150"/>
            <a:ext cx="2645282" cy="2448262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C0EA3B83-8F57-4D5D-B3CB-8E7AE8FF75FF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468" t="7300" r="26371" b="-353"/>
          <a:stretch/>
        </p:blipFill>
        <p:spPr>
          <a:xfrm>
            <a:off x="7562850" y="3552296"/>
            <a:ext cx="2247900" cy="1143529"/>
          </a:xfrm>
          <a:prstGeom prst="rect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</p:spTree>
    <p:extLst>
      <p:ext uri="{BB962C8B-B14F-4D97-AF65-F5344CB8AC3E}">
        <p14:creationId xmlns:p14="http://schemas.microsoft.com/office/powerpoint/2010/main" val="1931664778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209675" y="1737360"/>
            <a:ext cx="994600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555" r="67375"/>
          <a:stretch/>
        </p:blipFill>
        <p:spPr>
          <a:xfrm>
            <a:off x="10619475" y="1036308"/>
            <a:ext cx="1364958" cy="571501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61666" b="38896"/>
          <a:stretch/>
        </p:blipFill>
        <p:spPr>
          <a:xfrm>
            <a:off x="10565538" y="349786"/>
            <a:ext cx="1418895" cy="745451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b="1" dirty="0">
                <a:latin typeface="Bahnschrift SemiBold" panose="020B0502040204020203" pitchFamily="34" charset="0"/>
              </a:rPr>
              <a:t>Fejlesztési lehetőségek</a:t>
            </a:r>
          </a:p>
        </p:txBody>
      </p:sp>
      <p:sp>
        <p:nvSpPr>
          <p:cNvPr id="6" name="Tartalom helye 2">
            <a:extLst>
              <a:ext uri="{FF2B5EF4-FFF2-40B4-BE49-F238E27FC236}">
                <a16:creationId xmlns:a16="http://schemas.microsoft.com/office/drawing/2014/main" id="{654E07C9-ACD1-4AF5-9ECE-29158423F871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Mobilalkalmazás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Több iskolára, több szolgáltatóra bontás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Ételek értékelése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Étkeztetési rend osztályokra, csoportokra bontva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>
                <a:latin typeface="Bahnschrift Light" panose="020B0502040204020203" pitchFamily="34" charset="0"/>
              </a:rPr>
              <a:t>Online fizetés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38007902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 err="1">
                <a:latin typeface="Bahnschrift SemiBold" panose="020B0502040204020203" pitchFamily="34" charset="0"/>
              </a:rPr>
              <a:t>Demo</a:t>
            </a:r>
            <a:endParaRPr lang="hu-HU" sz="6000" b="1" dirty="0">
              <a:latin typeface="Bahnschrift SemiBold" panose="020B0502040204020203" pitchFamily="34" charset="0"/>
            </a:endParaRP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2732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Kérdések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6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3205163" y="2154342"/>
            <a:ext cx="5781675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58555" r="1153"/>
          <a:stretch/>
        </p:blipFill>
        <p:spPr>
          <a:xfrm>
            <a:off x="3864953" y="1462194"/>
            <a:ext cx="4462094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-295" b="38896"/>
          <a:stretch/>
        </p:blipFill>
        <p:spPr>
          <a:xfrm>
            <a:off x="3817995" y="581028"/>
            <a:ext cx="4556011" cy="914838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66800" y="2703622"/>
            <a:ext cx="10058400" cy="1450757"/>
          </a:xfrm>
          <a:prstGeom prst="rect">
            <a:avLst/>
          </a:prstGeom>
        </p:spPr>
        <p:txBody>
          <a:bodyPr anchor="ctr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hu-HU" sz="6000" b="1" dirty="0">
                <a:latin typeface="Bahnschrift SemiBold" panose="020B0502040204020203" pitchFamily="34" charset="0"/>
              </a:rPr>
              <a:t>Köszönjük a figyelmet!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0D5DF80E-C3F6-4A3A-98C9-825EEE99BBF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25" r="14640"/>
          <a:stretch/>
        </p:blipFill>
        <p:spPr>
          <a:xfrm rot="6074309">
            <a:off x="253294" y="393819"/>
            <a:ext cx="1804052" cy="1476375"/>
          </a:xfrm>
          <a:prstGeom prst="rect">
            <a:avLst/>
          </a:prstGeom>
        </p:spPr>
      </p:pic>
      <p:pic>
        <p:nvPicPr>
          <p:cNvPr id="13" name="Kép 12">
            <a:extLst>
              <a:ext uri="{FF2B5EF4-FFF2-40B4-BE49-F238E27FC236}">
                <a16:creationId xmlns:a16="http://schemas.microsoft.com/office/drawing/2014/main" id="{7AF0C74E-3043-40A3-8603-B30A83BB9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14" t="-711" r="26907" b="711"/>
          <a:stretch/>
        </p:blipFill>
        <p:spPr>
          <a:xfrm rot="4156304" flipH="1">
            <a:off x="10842996" y="4624346"/>
            <a:ext cx="1208569" cy="1623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2443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Egyenes összekötő 1">
            <a:extLst>
              <a:ext uri="{FF2B5EF4-FFF2-40B4-BE49-F238E27FC236}">
                <a16:creationId xmlns:a16="http://schemas.microsoft.com/office/drawing/2014/main" id="{20EF3F3C-374B-461F-BAF4-6C213DE7C8BB}"/>
              </a:ext>
            </a:extLst>
          </p:cNvPr>
          <p:cNvCxnSpPr>
            <a:cxnSpLocks/>
          </p:cNvCxnSpPr>
          <p:nvPr/>
        </p:nvCxnSpPr>
        <p:spPr>
          <a:xfrm>
            <a:off x="1066800" y="1737360"/>
            <a:ext cx="9977438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Kép 2">
            <a:extLst>
              <a:ext uri="{FF2B5EF4-FFF2-40B4-BE49-F238E27FC236}">
                <a16:creationId xmlns:a16="http://schemas.microsoft.com/office/drawing/2014/main" id="{FE91A941-BC8A-4E2A-B780-F3F3D6A9B3E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3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" t="58555" r="67247"/>
          <a:stretch/>
        </p:blipFill>
        <p:spPr>
          <a:xfrm>
            <a:off x="10446874" y="1011980"/>
            <a:ext cx="1478572" cy="616623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78D3DB18-E771-4DF0-84FA-206E8FA4188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032" b="36381"/>
          <a:stretch/>
        </p:blipFill>
        <p:spPr>
          <a:xfrm>
            <a:off x="10355433" y="253737"/>
            <a:ext cx="1541291" cy="851162"/>
          </a:xfrm>
          <a:prstGeom prst="rect">
            <a:avLst/>
          </a:prstGeom>
        </p:spPr>
      </p:pic>
      <p:sp>
        <p:nvSpPr>
          <p:cNvPr id="5" name="Cím 1">
            <a:extLst>
              <a:ext uri="{FF2B5EF4-FFF2-40B4-BE49-F238E27FC236}">
                <a16:creationId xmlns:a16="http://schemas.microsoft.com/office/drawing/2014/main" id="{175A5A3F-6F8F-4002-ADBD-CD8C93ECEEE1}"/>
              </a:ext>
            </a:extLst>
          </p:cNvPr>
          <p:cNvSpPr txBox="1">
            <a:spLocks/>
          </p:cNvSpPr>
          <p:nvPr/>
        </p:nvSpPr>
        <p:spPr>
          <a:xfrm>
            <a:off x="1097280" y="286602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4400" b="1" dirty="0">
                <a:latin typeface="Bahnschrift SemiBold" panose="020B0502040204020203" pitchFamily="34" charset="0"/>
              </a:rPr>
              <a:t>Források</a:t>
            </a:r>
          </a:p>
        </p:txBody>
      </p:sp>
      <p:sp>
        <p:nvSpPr>
          <p:cNvPr id="14" name="Cím 1">
            <a:extLst>
              <a:ext uri="{FF2B5EF4-FFF2-40B4-BE49-F238E27FC236}">
                <a16:creationId xmlns:a16="http://schemas.microsoft.com/office/drawing/2014/main" id="{27767F96-4F23-4735-A23B-07F09E00E316}"/>
              </a:ext>
            </a:extLst>
          </p:cNvPr>
          <p:cNvSpPr txBox="1">
            <a:spLocks/>
          </p:cNvSpPr>
          <p:nvPr/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anchor="b"/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hu-HU" dirty="0"/>
          </a:p>
        </p:txBody>
      </p:sp>
      <p:sp>
        <p:nvSpPr>
          <p:cNvPr id="15" name="Tartalom helye 2">
            <a:extLst>
              <a:ext uri="{FF2B5EF4-FFF2-40B4-BE49-F238E27FC236}">
                <a16:creationId xmlns:a16="http://schemas.microsoft.com/office/drawing/2014/main" id="{D461F7F4-1A2F-43DA-861A-D185CFE10688}"/>
              </a:ext>
            </a:extLst>
          </p:cNvPr>
          <p:cNvSpPr txBox="1">
            <a:spLocks/>
          </p:cNvSpPr>
          <p:nvPr/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/>
          <a:lstStyle>
            <a:lvl1pPr marL="91440" indent="-9144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Char char=" "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8404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6692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4980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32688" indent="-18288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u-HU" sz="2000" dirty="0" err="1">
                <a:latin typeface="Bahnschrift Light" panose="020B0502040204020203" pitchFamily="34" charset="0"/>
              </a:rPr>
              <a:t>agrtg</a:t>
            </a:r>
            <a:endParaRPr lang="hu-HU" sz="2000" dirty="0">
              <a:latin typeface="Bahnschrift Light" panose="020B0502040204020203" pitchFamily="34" charset="0"/>
            </a:endParaRPr>
          </a:p>
          <a:p>
            <a:pPr marL="201168" lvl="1" indent="0">
              <a:buFont typeface="Calibri" pitchFamily="34" charset="0"/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56006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etrospektív">
  <a:themeElements>
    <a:clrScheme name="Retrospektív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ktív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ktív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291</Words>
  <Application>Microsoft Office PowerPoint</Application>
  <PresentationFormat>Szélesvásznú</PresentationFormat>
  <Paragraphs>110</Paragraphs>
  <Slides>17</Slides>
  <Notes>10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6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17</vt:i4>
      </vt:variant>
    </vt:vector>
  </HeadingPairs>
  <TitlesOfParts>
    <vt:vector size="24" baseType="lpstr">
      <vt:lpstr>Arial</vt:lpstr>
      <vt:lpstr>Bahnschrift Light</vt:lpstr>
      <vt:lpstr>Bahnschrift SemiBold</vt:lpstr>
      <vt:lpstr>Calibri</vt:lpstr>
      <vt:lpstr>Calibri Light</vt:lpstr>
      <vt:lpstr>Wingdings</vt:lpstr>
      <vt:lpstr>Retrospektív</vt:lpstr>
      <vt:lpstr>PowerPoint-bemutató</vt:lpstr>
      <vt:lpstr>PowerPoint-bemutató</vt:lpstr>
      <vt:lpstr>PowerPoint-bemutató</vt:lpstr>
      <vt:lpstr>PowerPoint-bemutató</vt:lpstr>
      <vt:lpstr>Funkciók</vt:lpstr>
      <vt:lpstr>Felépítése </vt:lpstr>
      <vt:lpstr>Munkamegosztás</vt:lpstr>
      <vt:lpstr>Backend</vt:lpstr>
      <vt:lpstr>Frontend</vt:lpstr>
      <vt:lpstr>Adatbázis</vt:lpstr>
      <vt:lpstr>Reszponzivitás</vt:lpstr>
      <vt:lpstr>Tesztelés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Iskolai étkezéskezelő rendszer</dc:title>
  <dc:creator>Atkári Ariella</dc:creator>
  <cp:lastModifiedBy>Atkári Ariella</cp:lastModifiedBy>
  <cp:revision>77</cp:revision>
  <dcterms:created xsi:type="dcterms:W3CDTF">2026-03-03T06:30:40Z</dcterms:created>
  <dcterms:modified xsi:type="dcterms:W3CDTF">2026-03-27T07:49:29Z</dcterms:modified>
</cp:coreProperties>
</file>